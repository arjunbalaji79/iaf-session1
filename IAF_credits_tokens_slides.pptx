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0" r:id="rId11"/>
    <p:sldId id="261" r:id="rId12"/>
    <p:sldId id="262" r:id="rId13"/>
    <p:sldId id="263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2240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143000" y="1051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14432" y="10515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/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43000" y="2148840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B85042"/>
                </a:solidFill>
                <a:latin typeface="Georgia"/>
              </a:rPr>
              <a:t>WORKING SUSTAINABLY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37276" y="2651760"/>
            <a:ext cx="914400" cy="0"/>
          </a:xfrm>
          <a:prstGeom prst="line">
            <a:avLst/>
          </a:prstGeom>
          <a:noFill/>
          <a:ln w="1524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926080"/>
            <a:ext cx="9902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4000">
                <a:solidFill>
                  <a:srgbClr val="1F3A5F"/>
                </a:solidFill>
                <a:latin typeface="Georgia"/>
              </a:rPr>
              <a:t>Make your credits last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057400" y="4069080"/>
            <a:ext cx="8074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600">
                <a:solidFill>
                  <a:srgbClr val="8A7A55"/>
                </a:solidFill>
                <a:latin typeface="Calibri"/>
              </a:rPr>
              <a:t>Match the model to the task — and spend tokens like the budget they are.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2834640" y="7315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622792" y="7315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/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83464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RIGHT-SIZE THE MODEL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834640" y="1508760"/>
            <a:ext cx="6519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600" b="1">
                <a:solidFill>
                  <a:srgbClr val="1F3A5F"/>
                </a:solidFill>
                <a:latin typeface="Georgia"/>
              </a:rPr>
              <a:t>Big model, or small model?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834640" y="228600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34640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B85042"/>
                </a:solidFill>
                <a:latin typeface="Georgia"/>
              </a:rPr>
              <a:t>Reach for the powerful one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1">
                <a:solidFill>
                  <a:srgbClr val="B85042"/>
                </a:solidFill>
                <a:latin typeface="Georgia"/>
              </a:rPr>
              <a:t>Use it for  </a:t>
            </a:r>
            <a:r>
              <a:rPr sz="1300" b="0">
                <a:solidFill>
                  <a:srgbClr val="1F3A5F"/>
                </a:solidFill>
                <a:latin typeface="Calibri"/>
              </a:rPr>
              <a:t>hard reasoning, ambiguous problems, gnarly code, the tricky first draft.</a:t>
            </a:r>
            <a:endParaRPr lang="en-US" sz="1300" dirty="0"/>
          </a:p>
          <a:p/>
          <a:p>
            <a:r>
              <a:rPr sz="1300" b="1">
                <a:solidFill>
                  <a:srgbClr val="B85042"/>
                </a:solidFill>
                <a:latin typeface="Georgia"/>
              </a:rPr>
              <a:t>Such as  </a:t>
            </a:r>
            <a:r>
              <a:rPr sz="1300" b="0">
                <a:solidFill>
                  <a:srgbClr val="1F3A5F"/>
                </a:solidFill>
                <a:latin typeface="Calibri"/>
              </a:rPr>
              <a:t>Claude Opus · ChatGPT’s deep-reasoning mode.</a:t>
            </a:r>
          </a:p>
          <a:p/>
          <a:p>
            <a:r>
              <a:rPr sz="1300" b="0">
                <a:solidFill>
                  <a:srgbClr val="8A7A55"/>
                </a:solidFill>
                <a:latin typeface="Calibri"/>
              </a:rPr>
              <a:t>Powerful models cost more per message — save them for when they earn it.</a:t>
            </a:r>
          </a:p>
        </p:txBody>
      </p:sp>
      <p:sp>
        <p:nvSpPr>
          <p:cNvPr id="9" name="Text 7"/>
          <p:cNvSpPr/>
          <p:nvPr/>
        </p:nvSpPr>
        <p:spPr>
          <a:xfrm>
            <a:off x="6323076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4A6B3A"/>
                </a:solidFill>
                <a:latin typeface="Georgia"/>
              </a:rPr>
              <a:t>Default to the fast one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23076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1">
                <a:solidFill>
                  <a:srgbClr val="4A6B3A"/>
                </a:solidFill>
                <a:latin typeface="Georgia"/>
              </a:rPr>
              <a:t>Use it for  </a:t>
            </a:r>
            <a:r>
              <a:rPr sz="1300" b="0">
                <a:solidFill>
                  <a:srgbClr val="1F3A5F"/>
                </a:solidFill>
                <a:latin typeface="Calibri"/>
              </a:rPr>
              <a:t>everyday drafting, summaries, reformatting, repetitive Q&amp;A, quick edits.</a:t>
            </a:r>
            <a:endParaRPr lang="en-US" sz="1300" dirty="0"/>
          </a:p>
          <a:p/>
          <a:p>
            <a:r>
              <a:rPr sz="1300" b="1">
                <a:solidFill>
                  <a:srgbClr val="4A6B3A"/>
                </a:solidFill>
                <a:latin typeface="Georgia"/>
              </a:rPr>
              <a:t>Such as  </a:t>
            </a:r>
            <a:r>
              <a:rPr sz="1300" b="0">
                <a:solidFill>
                  <a:srgbClr val="1F3A5F"/>
                </a:solidFill>
                <a:latin typeface="Calibri"/>
              </a:rPr>
              <a:t>Claude Sonnet or Haiku · ChatGPT’s fast mode.</a:t>
            </a:r>
          </a:p>
          <a:p/>
          <a:p>
            <a:r>
              <a:rPr sz="1300" b="0">
                <a:solidFill>
                  <a:srgbClr val="8A7A55"/>
                </a:solidFill>
                <a:latin typeface="Calibri"/>
              </a:rPr>
              <a:t>Most of your day-to-day work never needs the expensive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11712" y="0"/>
            <a:ext cx="786384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0522" y="1143000"/>
            <a:ext cx="51773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25912" y="1143000"/>
            <a:ext cx="5096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/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0524" y="1600200"/>
            <a:ext cx="5177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HABITS THAT SAVE TOKENS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524" y="1920240"/>
            <a:ext cx="1000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1F3A5F"/>
                </a:solidFill>
                <a:latin typeface="Georgia"/>
              </a:rPr>
              <a:t>Spend less, get more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22" y="3063240"/>
            <a:ext cx="10005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600" b="1">
                <a:solidFill>
                  <a:srgbClr val="B85042"/>
                </a:solidFill>
                <a:latin typeface="Georgia"/>
              </a:rPr>
              <a:t>Start a fresh chat for a new task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long histories re-send every earlier message, and you pay for them each time.</a:t>
            </a:r>
            <a:endParaRPr lang="en-US" sz="1600" dirty="0"/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Be specific, not verbose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a clear, short prompt beats a long, rambling one.</a:t>
            </a:r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Don’t paste the whole document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give the one section the model actually needs.</a:t>
            </a:r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Reuse your saved prompts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don’t re-explain the same setup from scratch.</a:t>
            </a:r>
          </a:p>
          <a:p>
            <a:r>
              <a:rPr sz="1600" b="1">
                <a:solidFill>
                  <a:srgbClr val="B85042"/>
                </a:solidFill>
                <a:latin typeface="Georgia"/>
              </a:rPr>
              <a:t>Turn off tools you’re not using  —  </a:t>
            </a:r>
            <a:r>
              <a:rPr sz="1500" b="0">
                <a:solidFill>
                  <a:srgbClr val="1F3A5F"/>
                </a:solidFill>
                <a:latin typeface="Calibri"/>
              </a:rPr>
              <a:t>web search and extras add tokens you may not need.</a:t>
            </a:r>
          </a:p>
          <a:p>
            <a:r>
              <a:rPr sz="1500" b="0">
                <a:solidFill>
                  <a:srgbClr val="8A7A55"/>
                </a:solidFill>
                <a:latin typeface="Calibri"/>
              </a:rPr>
              <a:t>Every token you don’t spend is budget for another month of building.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280160" y="11887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177272" y="11887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/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016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THE RULE OF THUMB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80160" y="20116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dirty="0">
                <a:solidFill>
                  <a:srgbClr val="C8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2468880" y="2560320"/>
            <a:ext cx="83484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200">
                <a:solidFill>
                  <a:srgbClr val="1F3A5F"/>
                </a:solidFill>
                <a:latin typeface="Georgia"/>
              </a:rPr>
              <a:t>Start with the smallest model that could do the job. Escalate only when it visibly struggles — most everyday work never needs the expensive one.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468880" y="4663440"/>
            <a:ext cx="54864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0896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>
                <a:solidFill>
                  <a:srgbClr val="8A7A55"/>
                </a:solidFill>
                <a:latin typeface="Calibri"/>
              </a:rPr>
              <a:t>Right-sizing is the cheapest habit you’ll build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</Words>
  <Application>Microsoft Macintosh PowerPoint</Application>
  <PresentationFormat>Widescreen</PresentationFormat>
  <Paragraphs>28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ab6136</cp:lastModifiedBy>
  <cp:revision>2</cp:revision>
  <dcterms:created xsi:type="dcterms:W3CDTF">2026-06-03T02:04:37Z</dcterms:created>
  <dcterms:modified xsi:type="dcterms:W3CDTF">2026-06-04T05:21:45Z</dcterms:modified>
</cp:coreProperties>
</file>