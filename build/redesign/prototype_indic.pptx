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212848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300">
                <a:solidFill>
                  <a:srgbClr val="B85042"/>
                </a:solidFill>
                <a:latin typeface="Georgia"/>
              </a:rPr>
              <a:t>DISCOVERY DAY</a:t>
            </a:r>
            <a:r>
              <a:rPr sz="1350" b="1" i="0" spc="300">
                <a:solidFill>
                  <a:srgbClr val="8A7A55"/>
                </a:solidFill>
                <a:latin typeface="Georgia"/>
              </a:rPr>
              <a:t>    ·    BANGALORE    ·   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15184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1F3A5F"/>
                </a:solidFill>
                <a:latin typeface="Georgia"/>
              </a:rPr>
              <a:t>ImpactAI Foundry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187952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33312B"/>
                </a:solidFill>
                <a:latin typeface="Georgia"/>
              </a:rPr>
              <a:t>Welcome — find a seat, grab some snacks.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828032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120">
                <a:solidFill>
                  <a:srgbClr val="A8842F"/>
                </a:solidFill>
                <a:latin typeface="Georgia"/>
              </a:rPr>
              <a:t>WiFi  </a:t>
            </a:r>
            <a:r>
              <a:rPr sz="1400" b="0" i="0">
                <a:solidFill>
                  <a:srgbClr val="1F3A5F"/>
                </a:solidFill>
                <a:latin typeface="Georgia"/>
              </a:rPr>
              <a:t>ImpactAI-Guest        </a:t>
            </a:r>
            <a:r>
              <a:rPr sz="1400" b="1" i="0" spc="120">
                <a:solidFill>
                  <a:srgbClr val="A8842F"/>
                </a:solidFill>
                <a:latin typeface="Georgia"/>
              </a:rPr>
              <a:t>Password  </a:t>
            </a:r>
            <a:r>
              <a:rPr sz="1400" b="0" i="0">
                <a:solidFill>
                  <a:srgbClr val="1F3A5F"/>
                </a:solidFill>
                <a:latin typeface="Georgia"/>
              </a:rPr>
              <a:t>foundry2026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C4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395728"/>
            <a:ext cx="12191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8A04A"/>
                </a:solidFill>
                <a:latin typeface="Georgia"/>
              </a:rPr>
              <a:t>SESSION ONE   ·   10:00 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761488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1E7CE"/>
                </a:solidFill>
                <a:latin typeface="Georgia"/>
              </a:rPr>
              <a:t>Prompting and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13632"/>
            <a:ext cx="822960" cy="3810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C9BA97"/>
                </a:solidFill>
                <a:latin typeface="Georgia"/>
              </a:rPr>
              <a:t>The shortest path from a blank prompt to useful output.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1175" y="640080"/>
            <a:ext cx="2926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0" b="1" i="0">
                <a:solidFill>
                  <a:srgbClr val="ECE2C8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PHASE 01 ·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26464"/>
            <a:ext cx="9357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F3A5F"/>
                </a:solidFill>
                <a:latin typeface="Georgia"/>
              </a:rPr>
              <a:t>Ideation &amp; foundational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20" y="21214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2743200"/>
            <a:ext cx="10972" cy="2286000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69748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99816"/>
            <a:ext cx="3931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33312B"/>
                </a:solidFill>
                <a:latin typeface="Georgia"/>
              </a:rPr>
              <a:t>Explore where AI can help and build hands-on fluency before committing to a problem.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97480"/>
            <a:ext cx="4830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A8842F"/>
                </a:solidFill>
                <a:latin typeface="Georgia"/>
              </a:rPr>
              <a:t>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099816"/>
            <a:ext cx="483077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Explore high-impact AI use cases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Build fluency with prompting and core tools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Understand AI's strengths and limits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650" b="1" i="0">
                <a:solidFill>
                  <a:srgbClr val="B85042"/>
                </a:solidFill>
                <a:latin typeface="Georgia"/>
              </a:rPr>
              <a:t>•  </a:t>
            </a:r>
            <a:r>
              <a:rPr sz="1650" b="0" i="0">
                <a:solidFill>
                  <a:srgbClr val="33312B"/>
                </a:solidFill>
                <a:latin typeface="Georgia"/>
              </a:rPr>
              <a:t>Spot workflows that feel unclear or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THREE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26464"/>
            <a:ext cx="9357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F3A5F"/>
                </a:solidFill>
                <a:latin typeface="Georgia"/>
              </a:rPr>
              <a:t>Build with care, but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2121408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596896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A8842F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615184"/>
            <a:ext cx="84426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Protect personal information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Free AI tools aren't private by default. Beneficiary and donor data stays out unless the platform is secure and configured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3547872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621024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A8842F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639312"/>
            <a:ext cx="84426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Keep a human in the loop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Until you fully understand how a tool behaves on your work, review its outputs before relying on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4572000"/>
            <a:ext cx="9357055" cy="10972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645152"/>
            <a:ext cx="822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A8842F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663440"/>
            <a:ext cx="8442655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Customise for your community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3312B"/>
                </a:solidFill>
                <a:latin typeface="Georgia"/>
              </a:rPr>
              <a:t>Out-of-the-box AI doesn't reflect every context. Adapt it to truly serve the people you serve.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742431"/>
            <a:ext cx="93570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1">
                <a:solidFill>
                  <a:srgbClr val="B85042"/>
                </a:solidFill>
                <a:latin typeface="Georgia"/>
              </a:rPr>
              <a:t>…but don't let these get in the way of getting started.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EXERCISE · 15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26464"/>
            <a:ext cx="93570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3A5F"/>
                </a:solidFill>
                <a:latin typeface="Georgia"/>
              </a:rPr>
              <a:t>Ask AI to solve a real work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2103120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2606040"/>
            <a:ext cx="4434840" cy="2103120"/>
          </a:xfrm>
          <a:prstGeom prst="rect">
            <a:avLst/>
          </a:prstGeom>
          <a:solidFill>
            <a:srgbClr val="ECE2C8"/>
          </a:solidFill>
          <a:ln w="15875">
            <a:solidFill>
              <a:srgbClr val="D8CB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2606040"/>
            <a:ext cx="82296" cy="210312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2916936"/>
            <a:ext cx="3794759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Georgia"/>
              </a:rPr>
              <a:t>You're a 10th-grade English teacher. You just hired a teaching assistant to grade essays.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946904"/>
            <a:ext cx="5349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B85042"/>
                </a:solidFill>
                <a:latin typeface="Georgia"/>
              </a:rPr>
              <a:t>→  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With your team: what do you do to make sure they </a:t>
            </a:r>
            <a:r>
              <a:rPr sz="1550" b="0" i="1">
                <a:solidFill>
                  <a:srgbClr val="33312B"/>
                </a:solidFill>
                <a:latin typeface="Georgia"/>
              </a:rPr>
              <a:t>do the right thing</a:t>
            </a:r>
            <a:r>
              <a:rPr sz="1550" b="0" i="0">
                <a:solidFill>
                  <a:srgbClr val="33312B"/>
                </a:solidFill>
                <a:latin typeface="Georgia"/>
              </a:rPr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2834640"/>
            <a:ext cx="3383280" cy="2103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14032" y="2953512"/>
            <a:ext cx="3145536" cy="1865376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11112" y="4937760"/>
            <a:ext cx="4151376" cy="1371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3291840"/>
            <a:ext cx="16459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584448"/>
            <a:ext cx="210312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3877056"/>
            <a:ext cx="1143000" cy="82296"/>
          </a:xfrm>
          <a:prstGeom prst="rect">
            <a:avLst/>
          </a:prstGeom>
          <a:solidFill>
            <a:srgbClr val="D8CB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4169664"/>
            <a:ext cx="82296" cy="201168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10481767" y="5267355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123444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solidFill>
                  <a:srgbClr val="C8A04A"/>
                </a:solidFill>
                <a:latin typeface="Georg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697480"/>
            <a:ext cx="935705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F3A5F"/>
                </a:solidFill>
                <a:latin typeface="Georgia"/>
              </a:rPr>
              <a:t>You know your work better than anyone in this room. Our job isn't to tell you what to build — it's to help you put AI to the work you already 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5074920"/>
            <a:ext cx="457200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5230368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8A7A55"/>
                </a:solidFill>
                <a:latin typeface="Georgia"/>
              </a:rPr>
              <a:t>THE PREMISE OF THE FOUNDRY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C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84048"/>
            <a:ext cx="1325880" cy="1206596"/>
          </a:xfrm>
          <a:prstGeom prst="rect">
            <a:avLst/>
          </a:prstGeom>
        </p:spPr>
      </p:pic>
      <p:pic>
        <p:nvPicPr>
          <p:cNvPr id="4" name="Picture 3" descr="corner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481767" y="384048"/>
            <a:ext cx="1325880" cy="12065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078992"/>
            <a:ext cx="93570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A8842F"/>
                </a:solidFill>
                <a:latin typeface="Georgia"/>
              </a:rPr>
              <a:t>THE LEARNING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08176"/>
            <a:ext cx="93570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F3A5F"/>
                </a:solidFill>
                <a:latin typeface="Georgia"/>
              </a:rPr>
              <a:t>Five phases across four sessions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2066543"/>
            <a:ext cx="566928" cy="35560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320" y="2487168"/>
            <a:ext cx="9357055" cy="67665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2" y="2487168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487168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87168"/>
            <a:ext cx="574517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>Build prompting fluency; spot AI-shaped problems in your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255264"/>
            <a:ext cx="9357055" cy="67665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3255264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55264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55264"/>
            <a:ext cx="574517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>Narrow to one workflow; map inputs, steps, and success.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4023360"/>
            <a:ext cx="9357055" cy="676656"/>
          </a:xfrm>
          <a:prstGeom prst="rect">
            <a:avLst/>
          </a:prstGeom>
          <a:solidFill>
            <a:srgbClr val="9E6B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3352" y="4023360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023360"/>
            <a:ext cx="574517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>Build a reusable prototype with your mentor; test on real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4791456"/>
            <a:ext cx="9357055" cy="676656"/>
          </a:xfrm>
          <a:prstGeom prst="rect">
            <a:avLst/>
          </a:prstGeom>
          <a:solidFill>
            <a:srgbClr val="C8A0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3352" y="4791456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3A5F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791456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1F3A5F"/>
                </a:solidFill>
                <a:latin typeface="Georgia"/>
              </a:rPr>
              <a:t>REFINE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91456"/>
            <a:ext cx="574517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Georgia"/>
              </a:rPr>
              <a:t>Stress-test edge cases; add validation; fit it to your team.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559552"/>
            <a:ext cx="9357055" cy="676656"/>
          </a:xfrm>
          <a:prstGeom prst="rect">
            <a:avLst/>
          </a:prstGeom>
          <a:solidFill>
            <a:srgbClr val="4A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2" y="5559552"/>
            <a:ext cx="7772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1E7CE"/>
                </a:solidFill>
                <a:latin typeface="Georgia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559552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00">
                <a:solidFill>
                  <a:srgbClr val="F1E7CE"/>
                </a:solidFill>
                <a:latin typeface="Georgia"/>
              </a:rPr>
              <a:t>DELIVER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559552"/>
            <a:ext cx="5745175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1E7CE"/>
                </a:solidFill>
                <a:latin typeface="Georgia"/>
              </a:rPr>
              <a:t>Demo Day, August 1 — share what you built and what's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62910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200">
                <a:solidFill>
                  <a:srgbClr val="8A7A55"/>
                </a:solidFill>
                <a:latin typeface="Georgia"/>
              </a:rPr>
              <a:t>IMPACTAI FOUNDRY</a:t>
            </a:r>
            <a:r>
              <a:rPr sz="850" b="0" i="0" spc="200">
                <a:solidFill>
                  <a:srgbClr val="8A7A55"/>
                </a:solidFill>
                <a:latin typeface="Georgia"/>
              </a:rPr>
              <a:t>   ·   BANGALORE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9975" y="62910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A7A55"/>
                </a:solidFill>
                <a:latin typeface="Georgia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