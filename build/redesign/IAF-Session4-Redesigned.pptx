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set IAF's Demo Day date, time, and venue (source used the original program's own logistics).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tough! There’s no right answer, just what your organization cares about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the 'Trapped in the chat' progressive-reveal build (slides 12–14) into one record using the fullest slide (14). Trigger/Actor subs inferred from the node-anatomy layout where source text was unlabeled.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(merged animation-build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(merged animation-build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the 'Getting Data Into Claude' build (slides 22–23) into one record using the fuller slide 23. Slide 22 was the partial reveal (connectors screenshot only) and was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(merged animation-build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Slack-send screenshot; body keeps verbatim teaching lines plus the example prompt and the 'Safety first!' callout.  RESHOOT — The Slack/DM draft screenshot is a long, dense block of tiny grey text (a multi-paragraph email-style draft) that is completely unreadable at projection size. It is illustrative context only and the teaching body fully carries the point, but at this scale it just reads as a grey wall. Note the screenshot still shows the specific name 'Jenni Warren' even though the body copy was rebranded to the generic 'a teammate' (not a banned term, just an inconsistency between image and body).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Node-anatomy reveal of the Trigger/Actor/Input/Steps/Success spectrum. Collapsed slides 30+31.  (merged animation-build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interstitial (image27.jpg full-bleed kilim/loom photo); rendered as a dark 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separate Claude projects all converge on one shared skill. Rebranded the diagram's 'Decoded Futures branding skill' box to 'ImpactAI Foundry branding skill'.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Full-bleed product screenshot of the Claude Skills customization UI showing the brand-guidelines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the TRAPPED IN THE CHAT node-anatomy build (slides 39–40) into one record using the fullest/last slide (40); slide 39 is an earlier partial reveal and was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illustrative outcomes from the program model (IAF is cohort one). Swap for IAF's own alumni results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set IAF Demo Day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QR codes (Substack, Case Studies, LinkedIn) over a decorative background; dropped the '‹#›' slide-number chrome and the full-bleed background tile (image73.png). QR images point to ImpactAI Foundry properties. TODO: set real ImpactAI Foundry QR codes / links for Substack, Case Studies, and LinkedIn.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1284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300">
                <a:solidFill>
                  <a:srgbClr val="B85042"/>
                </a:solidFill>
                <a:latin typeface="Georgia"/>
              </a:rPr>
              <a:t>IMPACTAI FOUNDRY ·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96896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F3A5F"/>
                </a:solidFill>
                <a:latin typeface="Georgia"/>
              </a:rPr>
              <a:t>Bringing Your AI Into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87952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33312B"/>
                </a:solidFill>
                <a:latin typeface="Georgia"/>
              </a:rPr>
              <a:t>Customize your AI with connectors and skills, then build your prototype.</a:t>
            </a:r>
          </a:p>
        </p:txBody>
      </p:sp>
      <p:pic>
        <p:nvPicPr>
          <p:cNvPr id="7" name="Picture 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Today's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8842F"/>
                </a:solidFill>
                <a:latin typeface="Georgia"/>
              </a:rPr>
              <a:t>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414015"/>
            <a:ext cx="80128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Session 3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7911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43123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8842F"/>
                </a:solidFill>
                <a:latin typeface="Georgia"/>
              </a:rPr>
              <a:t>1:15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3061411"/>
            <a:ext cx="80128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Customize Your AI: Connectors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62651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90518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8842F"/>
                </a:solidFill>
                <a:latin typeface="Georgia"/>
              </a:rPr>
              <a:t>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708806"/>
            <a:ext cx="80128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Break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27390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337913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8842F"/>
                </a:solidFill>
                <a:latin typeface="Georgia"/>
              </a:rPr>
              <a:t>2:15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356201"/>
            <a:ext cx="80128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Customize Your AI: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9213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85308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8842F"/>
                </a:solidFill>
                <a:latin typeface="Georgia"/>
              </a:rPr>
              <a:t>2:45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5003596"/>
            <a:ext cx="80128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Build Your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69671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B85042"/>
                </a:solidFill>
                <a:latin typeface="Georgia"/>
              </a:rPr>
              <a:t>4:30 — Share and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</a:t>
            </a:r>
          </a:p>
        </p:txBody>
      </p:sp>
      <p:pic>
        <p:nvPicPr>
          <p:cNvPr id="23" name="Picture 2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4" name="Picture 2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F3A5F"/>
                </a:solidFill>
                <a:latin typeface="Georgia"/>
              </a:rPr>
              <a:t>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50542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16302"/>
            <a:ext cx="9357055" cy="59573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2416302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16302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416302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103473"/>
            <a:ext cx="9357055" cy="59573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3352" y="3103473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03473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103473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790645"/>
            <a:ext cx="9357055" cy="595731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2" y="3790645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90645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0645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477816"/>
            <a:ext cx="9357055" cy="595731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3352" y="4477816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77816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77816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164988"/>
            <a:ext cx="9357055" cy="595731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73352" y="5164988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64988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164988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</a:t>
            </a:r>
          </a:p>
        </p:txBody>
      </p:sp>
      <p:pic>
        <p:nvPicPr>
          <p:cNvPr id="28" name="Picture 2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9" name="Picture 2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48295" y="26974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FE7D2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LEARNING PATH · 03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2704" y="2523743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7802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59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12B"/>
                </a:solidFill>
                <a:latin typeface="Georgia"/>
              </a:rPr>
              <a:t>Building and testing the AI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78023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80359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Build a reusable AI prototype aligned to the workflow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Apply structured prompting and context-setting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Test the prototype against real examples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Compare outputs to defined success criteria and refine for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3</a:t>
            </a:r>
          </a:p>
        </p:txBody>
      </p:sp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PAIR AND SHARE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Pair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00300"/>
            <a:ext cx="9357055" cy="1127252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400300"/>
            <a:ext cx="82296" cy="1127252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2638044"/>
            <a:ext cx="8625535" cy="761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Stand up, find someone you don't know, and share the AI project you're working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10432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→  </a:t>
            </a:r>
            <a:r>
              <a:rPr sz="1550" b="0" i="1">
                <a:solidFill>
                  <a:srgbClr val="33312B"/>
                </a:solidFill>
                <a:latin typeface="Georgia"/>
              </a:rPr>
              <a:t>What's one new thing you learned about your workflows since our last session?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4</a:t>
            </a:r>
          </a:p>
        </p:txBody>
      </p:sp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3" name="Picture 1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DEMO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5-minute AI Solution Demos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A celebration of how you're enhancing impact and workflows — date, time &amp; venue to be confirmed.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Reviewing Session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FOUR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Answer these before you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Answer these questions before you deploy and you’re ahead of 99% of social sector tech.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What does success look like - for everyone?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How will we know if it’s failing?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Who can raise an issue, and what happens?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Who can change it or turn it off?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5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TRADEOFFS YOU'RE LIKELY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These are tough — there’s no right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2704" y="2523743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47802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ON ONE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80359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Speed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Serving more people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Staff time saved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478023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ON THE 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80359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Accuracy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Serving fewer people better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User experience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Flexibility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6</a:t>
            </a:r>
          </a:p>
        </p:txBody>
      </p:sp>
      <p:pic>
        <p:nvPicPr>
          <p:cNvPr id="13" name="Picture 1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NONPROFIT SUPERPOWER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What if your constituents could…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For-profits rarely let customers change the product. But you serve your community. You have flexibility they don't!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200400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Opt out?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Raise an issue?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Override the 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7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ENHANCING YOUR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Adding the right tools for the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TRAPPED IN THE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Up until now, almost all interaction with Claude has been in the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47472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You, opening a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47472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You, typing the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47472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Whatever you can drag into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47472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Steps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Claude can only do whatever it can do out of the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47472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A response in the chat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3036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Invoking Session 2, that means the chat is the trigger, the actor, the input, and the output all at once.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TRAPPED IN THE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But what about everything outside the chat?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You start the chat manually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23469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You, in the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23469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Connecting to your own data?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23469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Steps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Teaching Claude to do something your way consistently?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23469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Putting results in your systems?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Up until now, almost all interaction with Claude has been in the chat: whatever you can drag in, whatever it can do out of the box, output that stays in the chat.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IMPACTAI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E7CE"/>
                </a:solidFill>
                <a:latin typeface="Georgia"/>
              </a:rPr>
              <a:t>Upskilling Claude: Revisiting the tool 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12" y="457200"/>
            <a:ext cx="10605269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3212" y="457200"/>
            <a:ext cx="10605269" cy="5349240"/>
          </a:xfrm>
          <a:prstGeom prst="rect">
            <a:avLst/>
          </a:prstGeom>
          <a:noFill/>
          <a:ln w="15875">
            <a:solidFill>
              <a:srgbClr val="1F3A5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GETTING DATA INTO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33312B"/>
                </a:solidFill>
                <a:latin typeface="Georgia"/>
              </a:rPr>
              <a:t>Connectors let Claude read and write to the tools you already use - found under Customize Claude.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GETTING DATA INTO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Connect Claude to your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748986"/>
            <a:ext cx="4206240" cy="24481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8135" y="2748986"/>
            <a:ext cx="4206240" cy="2448163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You can connect to tools.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These become data Claude can use as input / context!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This will also allow Claude to create outputs, with your permission!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Note: This will allow Claude to see data you share with it…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8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GETTING DATA INTO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…but you have control over that!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480961"/>
            <a:ext cx="4206240" cy="2984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8135" y="2480961"/>
            <a:ext cx="4206240" cy="2984212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Tool permissions let you choose when Claude is allowed to use each tool — always allow, ask each time, or require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9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GIVING CLAUDE TOOLS: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Connect Claude to Slack to read the latest ImpactAI Foundry messages!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786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907791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926079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Add Slack in your Connectors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75208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81609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834384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Ask Claude for a summary of the cohort conversation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660392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72440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742688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Ask for anything else you might want to know!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10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20" y="457200"/>
            <a:ext cx="5188453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01620" y="457200"/>
            <a:ext cx="5188453" cy="534924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GIVING CLAUDE TOOLS: 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1E7CE"/>
                </a:solidFill>
                <a:latin typeface="Georgia"/>
              </a:rPr>
              <a:t>Claude reads the cohort Slack channel and returns a summary of recent activity — confirming the channel, loading the messages, then writing it 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TRAPPED IN THE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But what about everything beyond the chat?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What kicks the work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23469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Who or what runs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23469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Connectors connect to your data sources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23469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Steps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Teaching Claude to do something your way consistently?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23469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Putting results in your systems?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Slide 27 was the partial reveal and was skipped.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Getting Data Out of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118" y="2418588"/>
            <a:ext cx="2400273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71118" y="2418588"/>
            <a:ext cx="2400273" cy="310896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Of course connectors work the same way in reverse. “Can you send the Slack summary to a teammate in my DMs?” Safety first!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11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TRAPPED IN THE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But what about: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23469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23469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Connectors connect to your data sources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23469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Steps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Teaching Claude to do something your way consistently?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23469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Putting results in your systems? ✅ Connectors connect to your 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Earlier partial duplicate (slide 30) skipped.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95728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602736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962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15 min</a:t>
            </a:r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Skills: Teaching Claude Some New Tricks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2051227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831771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Jake’s grant writing Claude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8547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2595" y="3234690"/>
            <a:ext cx="2051227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2323" y="3344418"/>
            <a:ext cx="1831771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Jenni’s case study publishing Claude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382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1" y="3234690"/>
            <a:ext cx="2051227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3344418"/>
            <a:ext cx="1831771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Brenda’s one-off blog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099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3147" y="3234690"/>
            <a:ext cx="2051227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2875" y="3344418"/>
            <a:ext cx="1831771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Georgia"/>
              </a:rPr>
              <a:t>ImpactAI Foundry branding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Skills are actions your Claude can take any time you or anyone calls it.</a:t>
            </a:r>
          </a:p>
        </p:txBody>
      </p:sp>
      <p:pic>
        <p:nvPicPr>
          <p:cNvPr id="18" name="Picture 1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9" name="Picture 1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Skills: Teaching Claude Some New Tricks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Why use skills? From Anthropic themselves: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Improvement in Claude’s performance of specific tasks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Organizational knowledge capture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Easy customization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Centralized management for organizations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12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12" y="457200"/>
            <a:ext cx="10605269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3212" y="457200"/>
            <a:ext cx="10605269" cy="534924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1E7CE"/>
                </a:solidFill>
                <a:latin typeface="Georgia"/>
              </a:rPr>
              <a:t>The Skills settings panel: a 'brand-guidelines' skill (Trigger: slash command + auto) applies official brand colors and typography to any artifact.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Skills: Teaching Claude Some New Tricks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912265"/>
            <a:ext cx="4206240" cy="21216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8135" y="2912265"/>
            <a:ext cx="4206240" cy="2121604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But how do I make new skills?
Great news, Anthropic thought of that: you just ask!
Claude has a skill-creator skill! (so meta)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13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GIVING CLAUDE SKILLS: BRAND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Create a brand-guidelines skill for your actual brand.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786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907791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926079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Ask Claude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“Create me a brand guidelines skill that is based off of the real brand guidelines of my foundation”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75208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81609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834384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Answer its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660392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72440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742688"/>
            <a:ext cx="8378647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Try it out!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14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Skills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Useful for small, contained workflows that you and your organization would use a lot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Smaller than a project - you could imagine a project to write social media communications using your brand guidelines tool.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Called with either a “/” or by Claude’s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15</a:t>
            </a:r>
          </a:p>
        </p:txBody>
      </p:sp>
      <p:pic>
        <p:nvPicPr>
          <p:cNvPr id="9" name="Picture 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TRAPPED IN THE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But what about…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23469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23469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Connectors connect to your data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23469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Steps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Skills provide extra abilities /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23469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Connectors connect to your 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Teaching Claude to do something your way consistently? Skills close the gap on the node anatomy.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Any problem that can be solved by computing is arguably “solvable” by LLMs.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786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2704" y="3035807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99008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PRIOR TO LANGUAGE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392423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12B"/>
                </a:solidFill>
                <a:latin typeface="Georgia"/>
              </a:rPr>
              <a:t>People had to “speak computer” to build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90087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392423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12B"/>
                </a:solidFill>
                <a:latin typeface="Georgia"/>
              </a:rPr>
              <a:t>Computers understand how people speak, and will build software as described.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16</a:t>
            </a:r>
          </a:p>
        </p:txBody>
      </p:sp>
      <p:pic>
        <p:nvPicPr>
          <p:cNvPr id="13" name="Picture 1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FINAL WORK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Final Work Block (90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Continue working on your prototype with your technologist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Flag any technical issues or new challenges you’re facing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it’s our last time in the group to talk about it!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If you’re at a testing stage, develop your ‘practical ethics’ testing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532120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B85042"/>
                </a:solidFill>
                <a:latin typeface="Georgia"/>
              </a:rPr>
              <a:t>We’ll meet again at 4:30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17</a:t>
            </a:r>
          </a:p>
        </p:txBody>
      </p:sp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8" name="Picture 1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IMPACTAI FOUNDRY ·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We Did It!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Bringing Your AI Into the World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F3A5F"/>
                </a:solidFill>
                <a:latin typeface="Georgia"/>
              </a:rPr>
              <a:t>Discover to Deliver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50542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16302"/>
            <a:ext cx="9357055" cy="59573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2416302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16302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416302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103473"/>
            <a:ext cx="9357055" cy="59573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3352" y="3103473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03473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103473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790645"/>
            <a:ext cx="9357055" cy="595731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2" y="3790645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90645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0645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477816"/>
            <a:ext cx="9357055" cy="595731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3352" y="4477816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77816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77816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164988"/>
            <a:ext cx="9357055" cy="595731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73352" y="5164988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64988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164988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18</a:t>
            </a:r>
          </a:p>
        </p:txBody>
      </p:sp>
      <p:pic>
        <p:nvPicPr>
          <p:cNvPr id="28" name="Picture 2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9" name="Picture 2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WHAT WE'RE LEARNING ABOUT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What We're Learning About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Building Fluency Takes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You Learn Best By Doing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The Fun Comes in Iterating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19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48295" y="26974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FE7D2"/>
                </a:solidFill>
                <a:latin typeface="Georgia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Your AI Tool 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2704" y="2523743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7802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CLAUDE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59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ChatGPT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Gemini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78023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CLAUDE COWORK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80359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OpenAI Browser Agent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Gemini in Chrome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Copilot in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20</a:t>
            </a:r>
          </a:p>
        </p:txBody>
      </p:sp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Codex · Gemini Code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ETHICS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Ethics Guidelines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Personally Identifiable Information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Free AI tools aren't private - don't share information unless it's a secure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Keep a Human in the Loop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Until you fully understand how AI behaves, always review its outputs before relying on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Customize for Your Community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Out-of-the-box AI models don't reflect every culture or experience - adapt them to truly serve your audience.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532120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B85042"/>
                </a:solidFill>
                <a:latin typeface="Georgia"/>
              </a:rPr>
              <a:t>…but don't let these get in the way of getting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21</a:t>
            </a:r>
          </a:p>
        </p:txBody>
      </p:sp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8" name="Picture 1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Give a Role and Goal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"You are a [add an expert, such as a "social media expert"] and your objective is to [add goal, such as "create LinkedIn posts about events"]"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List the Steps and Context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"To complete these instructions, follow these steps: Step 1, Step 2, Step 3 (etc)"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Describe the Final Product (Output)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"When you are done, write your final response": a summary paragraph of the work done, and 3 bullet points, one per 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22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SOLUTION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The 5 AI Solution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Answer &amp; Assist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"I get a lot of questions and can't keep up with answering them all."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7911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4312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06141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Automate the Admin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"I keep doing the same tasks over and over and it's taking time away from more important work."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62651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9051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70880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Create &amp; Communicate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"I need to write or create something to share with others."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27390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33791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35620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Sort &amp; Scan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"I spend too much time reviewing information that follows a pattern."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9213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8530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00359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Learn &amp; Decide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"I want to learn something new or need better insight to make smarter choices."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23</a:t>
            </a:r>
          </a:p>
        </p:txBody>
      </p:sp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3" name="Picture 2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AI DESIGN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AI Design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Define the Problem (the friction)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7911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4312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06141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Describe the Current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62651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9051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70880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Clarify the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27390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33791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35620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Define Success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9213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8530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00359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Prototype, Test, and Iterate!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24</a:t>
            </a:r>
          </a:p>
        </p:txBody>
      </p:sp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3" name="Picture 2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We learned to make toast (aka workflows)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445" y="2418588"/>
            <a:ext cx="3935619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03445" y="2418588"/>
            <a:ext cx="3935619" cy="310896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A workflow is a chain of steps. Each box in the chain is a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25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NODE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Zoom in on one step (node)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signal to start the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23469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person or thing that completes the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23469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Info or data needed to complete the step (this is optional!)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23469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Action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The actions the actor does to complete the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23469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34441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result of the step and how you know it's successful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For any single step in a workflow, you can break it down into: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FOUR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The Four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Answer these questions before you deploy and you're ahead of 99% of social sector tech.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What does success look like - for everyone?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How will we know if it's failing?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Who can raise an issue, and what happens?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Who can change it or turn it off?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26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WHAT TEAMS GO ON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What teams go on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Outcomes from the program model ImpactAI Foundry is built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440420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Build Policy — an AI policy for a 600-person organization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Create Apps — an app to support nonprofits nationwide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Lead Learning — an AI curriculum for a statewide network of Entrepreneurs Assistance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962656"/>
            <a:ext cx="440420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Get Funded — $500,000 in follow-on funding for AI tools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Get Published — published on training the workforce for an AI era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Scale — using AI to scale programming nationally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27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POST-SURVEY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1E7CE"/>
                </a:solidFill>
                <a:latin typeface="Georgia"/>
              </a:rPr>
              <a:t>Take 5 minutes and reflect on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TODO: set real post-survey link (ImpactAI Foundry)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Demo Day!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See you at Demo Day — date, time &amp; venue to be confirmed.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Between now and then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Share your final prototypes in Slack! They can be screenshots, code, or whatever you can show.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Questions?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Chat on Slack or reach out to the ImpactAI Foundry team. TODO: set real contact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28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IMPACTAI FOUNDRY ·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F3A5F"/>
                </a:solidFill>
                <a:latin typeface="Georgia"/>
              </a:rPr>
              <a:t>Follow along!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50542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61.png"/>
          <p:cNvPicPr>
            <a:picLocks noChangeAspect="1"/>
          </p:cNvPicPr>
          <p:nvPr/>
        </p:nvPicPr>
        <p:blipFill>
          <a:blip r:embed="rId2"/>
          <a:srcRect l="5390" r="5390"/>
          <a:stretch>
            <a:fillRect/>
          </a:stretch>
        </p:blipFill>
        <p:spPr>
          <a:xfrm>
            <a:off x="1417320" y="2434590"/>
            <a:ext cx="2948330" cy="33261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7320" y="2434590"/>
            <a:ext cx="2948330" cy="3326129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70.png"/>
          <p:cNvPicPr>
            <a:picLocks noChangeAspect="1"/>
          </p:cNvPicPr>
          <p:nvPr/>
        </p:nvPicPr>
        <p:blipFill>
          <a:blip r:embed="rId3"/>
          <a:srcRect l="6266" r="6266"/>
          <a:stretch>
            <a:fillRect/>
          </a:stretch>
        </p:blipFill>
        <p:spPr>
          <a:xfrm>
            <a:off x="4621682" y="2434590"/>
            <a:ext cx="2948330" cy="33261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21682" y="2434590"/>
            <a:ext cx="2948330" cy="3326129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62.png"/>
          <p:cNvPicPr>
            <a:picLocks noChangeAspect="1"/>
          </p:cNvPicPr>
          <p:nvPr/>
        </p:nvPicPr>
        <p:blipFill>
          <a:blip r:embed="rId4"/>
          <a:srcRect l="5967" r="5967"/>
          <a:stretch>
            <a:fillRect/>
          </a:stretch>
        </p:blipFill>
        <p:spPr>
          <a:xfrm>
            <a:off x="7826044" y="2434590"/>
            <a:ext cx="2948330" cy="33261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6044" y="2434590"/>
            <a:ext cx="2948330" cy="3326129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29</a:t>
            </a:r>
          </a:p>
        </p:txBody>
      </p:sp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