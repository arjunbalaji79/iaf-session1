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93247" y="658368"/>
            <a:ext cx="457200" cy="25603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24844" y="658368"/>
            <a:ext cx="25603" cy="45720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39551" y="658368"/>
            <a:ext cx="310896" cy="25603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24844" y="658368"/>
            <a:ext cx="25603" cy="310896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85855" y="658368"/>
            <a:ext cx="164592" cy="25603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4844" y="658368"/>
            <a:ext cx="25603" cy="164592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0312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BE4A2E"/>
                </a:solidFill>
                <a:latin typeface="Inter"/>
              </a:rPr>
              <a:t>DISCOVERY DAY</a:t>
            </a:r>
            <a:r>
              <a:rPr sz="1300" b="1" i="0" spc="260">
                <a:solidFill>
                  <a:srgbClr val="6F6A60"/>
                </a:solidFill>
                <a:latin typeface="Inter"/>
              </a:rPr>
              <a:t>   ·   BANGALORE   · 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05456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1F2A52"/>
                </a:solidFill>
                <a:latin typeface="Poppins"/>
              </a:rPr>
              <a:t>ImpactAI Foundry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822191"/>
            <a:ext cx="822960" cy="5715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78224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C24"/>
                </a:solidFill>
                <a:latin typeface="Inter"/>
              </a:rPr>
              <a:t>Welcome — find a seat, grab some snacks.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846320"/>
            <a:ext cx="0" cy="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4846320"/>
            <a:ext cx="2788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846320"/>
            <a:ext cx="2423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F6A60"/>
                </a:solidFill>
                <a:latin typeface="Inter"/>
              </a:rPr>
              <a:t>WIFI   </a:t>
            </a:r>
            <a:r>
              <a:rPr sz="1400" b="1" i="0">
                <a:solidFill>
                  <a:srgbClr val="1F2A52"/>
                </a:solidFill>
                <a:latin typeface="Poppins"/>
              </a:rPr>
              <a:t>ImpactAI-Guest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4846320"/>
            <a:ext cx="0" cy="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50208" y="4846320"/>
            <a:ext cx="2788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1376" y="4846320"/>
            <a:ext cx="2423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F6A60"/>
                </a:solidFill>
                <a:latin typeface="Inter"/>
              </a:rPr>
              <a:t>PASSWORD   </a:t>
            </a:r>
            <a:r>
              <a:rPr sz="1400" b="1" i="0">
                <a:solidFill>
                  <a:srgbClr val="1F2A52"/>
                </a:solidFill>
                <a:latin typeface="Poppins"/>
              </a:rPr>
              <a:t>foundry2026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6F6A60"/>
                </a:solidFill>
                <a:latin typeface="Inter"/>
              </a:rPr>
              <a:t>IMPACTAI FOUNDRY</a:t>
            </a:r>
            <a:r>
              <a:rPr sz="850" b="0" i="0" spc="160">
                <a:solidFill>
                  <a:srgbClr val="6F6A60"/>
                </a:solidFill>
                <a:latin typeface="Inter"/>
              </a:rPr>
              <a:t>   ·   BANGALORE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93247" y="658368"/>
            <a:ext cx="457200" cy="25603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24844" y="658368"/>
            <a:ext cx="25603" cy="45720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39551" y="658368"/>
            <a:ext cx="310896" cy="25603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24844" y="658368"/>
            <a:ext cx="25603" cy="310896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85855" y="658368"/>
            <a:ext cx="164592" cy="25603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4844" y="658368"/>
            <a:ext cx="25603" cy="164592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331720"/>
            <a:ext cx="822960" cy="5715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7860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F2A516"/>
                </a:solidFill>
                <a:latin typeface="Inter"/>
              </a:rPr>
              <a:t>SESSION ONE   ·   10:00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2608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Poppins"/>
              </a:rPr>
              <a:t>Prompting and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1605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0B8"/>
                </a:solidFill>
                <a:latin typeface="Inter"/>
              </a:rPr>
              <a:t>The shortest path from a blank prompt to useful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9AA0B8"/>
                </a:solidFill>
                <a:latin typeface="Inter"/>
              </a:rPr>
              <a:t>IMPACTAI FOUNDRY</a:t>
            </a:r>
            <a:r>
              <a:rPr sz="850" b="0" i="0" spc="160">
                <a:solidFill>
                  <a:srgbClr val="9AA0B8"/>
                </a:solidFill>
                <a:latin typeface="Inter"/>
              </a:rPr>
              <a:t>   ·   BANGALORE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604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9AA0B8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07247" y="274320"/>
            <a:ext cx="2743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EEF0F6"/>
                </a:solidFill>
                <a:latin typeface="Poppins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99516"/>
            <a:ext cx="274320" cy="6858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621792"/>
            <a:ext cx="101068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DE8A12"/>
                </a:solidFill>
                <a:latin typeface="Inter"/>
              </a:rPr>
              <a:t>PHASE 01 · 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78992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2A52"/>
                </a:solidFill>
                <a:latin typeface="Poppins"/>
              </a:rPr>
              <a:t>Ideation &amp; foundational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755648"/>
            <a:ext cx="566928" cy="4445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3172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DE8A12"/>
                </a:solidFill>
                <a:latin typeface="Inter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15768"/>
            <a:ext cx="4297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1C24"/>
                </a:solidFill>
                <a:latin typeface="Inter"/>
              </a:rPr>
              <a:t>Explore where AI can help and build hands-on fluency before committing to a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31720"/>
            <a:ext cx="54982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DE8A12"/>
                </a:solidFill>
                <a:latin typeface="Inter"/>
              </a:rPr>
              <a:t>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715768"/>
            <a:ext cx="549828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2A516"/>
                </a:solidFill>
                <a:latin typeface="Inter"/>
              </a:rPr>
              <a:t>—  </a:t>
            </a:r>
            <a:r>
              <a:rPr sz="1700" b="0" i="0">
                <a:solidFill>
                  <a:srgbClr val="1C1C24"/>
                </a:solidFill>
                <a:latin typeface="Inter"/>
              </a:rPr>
              <a:t>Explore high-impact AI use cases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2A516"/>
                </a:solidFill>
                <a:latin typeface="Inter"/>
              </a:rPr>
              <a:t>—  </a:t>
            </a:r>
            <a:r>
              <a:rPr sz="1700" b="0" i="0">
                <a:solidFill>
                  <a:srgbClr val="1C1C24"/>
                </a:solidFill>
                <a:latin typeface="Inter"/>
              </a:rPr>
              <a:t>Build fluency with prompting and core tools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2A516"/>
                </a:solidFill>
                <a:latin typeface="Inter"/>
              </a:rPr>
              <a:t>—  </a:t>
            </a:r>
            <a:r>
              <a:rPr sz="1700" b="0" i="0">
                <a:solidFill>
                  <a:srgbClr val="1C1C24"/>
                </a:solidFill>
                <a:latin typeface="Inter"/>
              </a:rPr>
              <a:t>Understand AI's strengths and limits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2A516"/>
                </a:solidFill>
                <a:latin typeface="Inter"/>
              </a:rPr>
              <a:t>—  </a:t>
            </a:r>
            <a:r>
              <a:rPr sz="1700" b="0" i="0">
                <a:solidFill>
                  <a:srgbClr val="1C1C24"/>
                </a:solidFill>
                <a:latin typeface="Inter"/>
              </a:rPr>
              <a:t>Spot workflows that feel unclear or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6F6A60"/>
                </a:solidFill>
                <a:latin typeface="Inter"/>
              </a:rPr>
              <a:t>IMPACTAI FOUNDRY</a:t>
            </a:r>
            <a:r>
              <a:rPr sz="850" b="0" i="0" spc="160">
                <a:solidFill>
                  <a:srgbClr val="6F6A60"/>
                </a:solidFill>
                <a:latin typeface="Inter"/>
              </a:rPr>
              <a:t>   ·   BANGALORE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6F6A60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99516"/>
            <a:ext cx="274320" cy="6858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1068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DE8A12"/>
                </a:solidFill>
                <a:latin typeface="Inter"/>
              </a:rPr>
              <a:t>THREE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2A52"/>
                </a:solidFill>
                <a:latin typeface="Poppins"/>
              </a:rPr>
              <a:t>Build with care, but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55648"/>
            <a:ext cx="566928" cy="4445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86000"/>
            <a:ext cx="868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A516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2304288"/>
            <a:ext cx="9549079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 i="0">
                <a:solidFill>
                  <a:srgbClr val="1F2A52"/>
                </a:solidFill>
                <a:latin typeface="Poppins"/>
              </a:rPr>
              <a:t>Protect personal information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C24"/>
                </a:solidFill>
                <a:latin typeface="Inter"/>
              </a:rPr>
              <a:t>Free AI tools aren't private by default. Beneficiary and donor data stays out unless the platform is secure and configured for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273551"/>
            <a:ext cx="10509199" cy="10972"/>
          </a:xfrm>
          <a:prstGeom prst="rect">
            <a:avLst/>
          </a:prstGeom>
          <a:solidFill>
            <a:srgbClr val="E6E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64991"/>
            <a:ext cx="868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A516"/>
                </a:solidFill>
                <a:latin typeface="Poppi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383279"/>
            <a:ext cx="9549079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 i="0">
                <a:solidFill>
                  <a:srgbClr val="1F2A52"/>
                </a:solidFill>
                <a:latin typeface="Poppins"/>
              </a:rPr>
              <a:t>Keep a human in the loop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C24"/>
                </a:solidFill>
                <a:latin typeface="Inter"/>
              </a:rPr>
              <a:t>Until you fully understand how a tool behaves on your work, review its outputs before relying on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352544"/>
            <a:ext cx="10509199" cy="10972"/>
          </a:xfrm>
          <a:prstGeom prst="rect">
            <a:avLst/>
          </a:prstGeom>
          <a:solidFill>
            <a:srgbClr val="E6E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443983"/>
            <a:ext cx="868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A516"/>
                </a:solidFill>
                <a:latin typeface="Poppi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4462271"/>
            <a:ext cx="9549079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 i="0">
                <a:solidFill>
                  <a:srgbClr val="1F2A52"/>
                </a:solidFill>
                <a:latin typeface="Poppins"/>
              </a:rPr>
              <a:t>Customise for your community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C24"/>
                </a:solidFill>
                <a:latin typeface="Inter"/>
              </a:rPr>
              <a:t>Out-of-the-box AI doesn't reflect every context. Adapt it to truly serve the people you serve.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559551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B79A57"/>
                </a:solidFill>
                <a:latin typeface="Inter"/>
              </a:rPr>
              <a:t>…but don't let these get in the way of getting started.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6F6A60"/>
                </a:solidFill>
                <a:latin typeface="Inter"/>
              </a:rPr>
              <a:t>IMPACTAI FOUNDRY</a:t>
            </a:r>
            <a:r>
              <a:rPr sz="850" b="0" i="0" spc="160">
                <a:solidFill>
                  <a:srgbClr val="6F6A60"/>
                </a:solidFill>
                <a:latin typeface="Inter"/>
              </a:rPr>
              <a:t>   ·   BANGALORE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04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6F6A60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0"/>
            <a:ext cx="86868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40">
                <a:solidFill>
                  <a:srgbClr val="1F2A52"/>
                </a:solidFill>
                <a:latin typeface="Inter"/>
              </a:rPr>
              <a:t>EXERCISE · 15 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2A52"/>
                </a:solidFill>
                <a:latin typeface="Poppins"/>
              </a:rPr>
              <a:t>Ask AI to solve a real work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5212080" cy="2240280"/>
          </a:xfrm>
          <a:prstGeom prst="rect">
            <a:avLst/>
          </a:prstGeom>
          <a:solidFill>
            <a:srgbClr val="FBF6EC"/>
          </a:solidFill>
          <a:ln w="15875">
            <a:solidFill>
              <a:srgbClr val="E6E0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72768"/>
            <a:ext cx="91440" cy="224028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1883664"/>
            <a:ext cx="45720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2A52"/>
                </a:solidFill>
                <a:latin typeface="Poppins"/>
              </a:rPr>
              <a:t>You're a 10th-grade English teacher. You just hired a teaching assistant to grade essays.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06908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A516"/>
                </a:solidFill>
                <a:latin typeface="Inter"/>
              </a:rPr>
              <a:t>→  </a:t>
            </a:r>
            <a:r>
              <a:rPr sz="1600" b="0" i="0">
                <a:solidFill>
                  <a:srgbClr val="1C1C24"/>
                </a:solidFill>
                <a:latin typeface="Inter"/>
              </a:rPr>
              <a:t>Work with your team: what do you do to make sure they </a:t>
            </a:r>
            <a:r>
              <a:rPr sz="1600" b="0" i="1">
                <a:solidFill>
                  <a:srgbClr val="1C1C24"/>
                </a:solidFill>
                <a:latin typeface="Inter"/>
              </a:rPr>
              <a:t>do the right thing</a:t>
            </a:r>
            <a:r>
              <a:rPr sz="1600" b="0" i="0">
                <a:solidFill>
                  <a:srgbClr val="1C1C24"/>
                </a:solidFill>
                <a:latin typeface="Inter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874519"/>
            <a:ext cx="3749039" cy="2331720"/>
          </a:xfrm>
          <a:prstGeom prst="rect">
            <a:avLst/>
          </a:prstGeom>
          <a:solidFill>
            <a:srgbClr val="1F2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31736" y="2002536"/>
            <a:ext cx="3493007" cy="20756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4206240"/>
            <a:ext cx="4572000" cy="146304"/>
          </a:xfrm>
          <a:prstGeom prst="rect">
            <a:avLst/>
          </a:prstGeom>
          <a:solidFill>
            <a:srgbClr val="1F2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423160"/>
            <a:ext cx="1828800" cy="91440"/>
          </a:xfrm>
          <a:prstGeom prst="rect">
            <a:avLst/>
          </a:prstGeom>
          <a:solidFill>
            <a:srgbClr val="E6E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2734056"/>
            <a:ext cx="2377440" cy="91440"/>
          </a:xfrm>
          <a:prstGeom prst="rect">
            <a:avLst/>
          </a:prstGeom>
          <a:solidFill>
            <a:srgbClr val="E6E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3044951"/>
            <a:ext cx="1280160" cy="91440"/>
          </a:xfrm>
          <a:prstGeom prst="rect">
            <a:avLst/>
          </a:prstGeom>
          <a:solidFill>
            <a:srgbClr val="E6E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3355847"/>
            <a:ext cx="91440" cy="219456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6F6A60"/>
                </a:solidFill>
                <a:latin typeface="Inter"/>
              </a:rPr>
              <a:t>IMPACTAI FOUNDRY</a:t>
            </a:r>
            <a:r>
              <a:rPr sz="850" b="0" i="0" spc="160">
                <a:solidFill>
                  <a:srgbClr val="6F6A60"/>
                </a:solidFill>
                <a:latin typeface="Inter"/>
              </a:rPr>
              <a:t>   ·   BANGALORE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04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6F6A60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F2A516"/>
                </a:solidFill>
                <a:latin typeface="Poppin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3172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F2A52"/>
                </a:solidFill>
                <a:latin typeface="Poppins"/>
              </a:rPr>
              <a:t>You know your work better than anyone in this room. Our job isn't to tell you what to build — it's to help you put AI to the work you already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074920"/>
            <a:ext cx="457200" cy="4445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23036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F6A60"/>
                </a:solidFill>
                <a:latin typeface="Inter"/>
              </a:rPr>
              <a:t>THE PREMISE OF THE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6F6A60"/>
                </a:solidFill>
                <a:latin typeface="Inter"/>
              </a:rPr>
              <a:t>IMPACTAI FOUNDRY</a:t>
            </a:r>
            <a:r>
              <a:rPr sz="850" b="0" i="0" spc="160">
                <a:solidFill>
                  <a:srgbClr val="6F6A60"/>
                </a:solidFill>
                <a:latin typeface="Inter"/>
              </a:rPr>
              <a:t>   ·   BANGALORE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6F6A60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99516"/>
            <a:ext cx="274320" cy="6858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621792"/>
            <a:ext cx="101068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DE8A12"/>
                </a:solidFill>
                <a:latin typeface="Inter"/>
              </a:rPr>
              <a:t>THE 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60704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2A52"/>
                </a:solidFill>
                <a:latin typeface="Poppins"/>
              </a:rPr>
              <a:t>Five phases across four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00784"/>
            <a:ext cx="566928" cy="44450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157984"/>
            <a:ext cx="10509199" cy="749808"/>
          </a:xfrm>
          <a:prstGeom prst="rect">
            <a:avLst/>
          </a:prstGeom>
          <a:solidFill>
            <a:srgbClr val="1F2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57984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2157984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50">
                <a:solidFill>
                  <a:srgbClr val="FFFFFF"/>
                </a:solidFill>
                <a:latin typeface="Poppin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157984"/>
            <a:ext cx="6668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Inter"/>
              </a:rPr>
              <a:t>Build prompting fluency; spot AI-shaped problems in your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990087"/>
            <a:ext cx="10509199" cy="749808"/>
          </a:xfrm>
          <a:prstGeom prst="rect">
            <a:avLst/>
          </a:prstGeom>
          <a:solidFill>
            <a:srgbClr val="BE4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990087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990087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50">
                <a:solidFill>
                  <a:srgbClr val="FFFFFF"/>
                </a:solidFill>
                <a:latin typeface="Poppins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990087"/>
            <a:ext cx="6668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Inter"/>
              </a:rPr>
              <a:t>Narrow to one workflow; map inputs, steps, and success.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822191"/>
            <a:ext cx="10509199" cy="749808"/>
          </a:xfrm>
          <a:prstGeom prst="rect">
            <a:avLst/>
          </a:prstGeom>
          <a:solidFill>
            <a:srgbClr val="D269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822191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3822191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50">
                <a:solidFill>
                  <a:srgbClr val="FFFFFF"/>
                </a:solidFill>
                <a:latin typeface="Poppin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822191"/>
            <a:ext cx="6668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Inter"/>
              </a:rPr>
              <a:t>Build a reusable prototype with your mentor; test on real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654296"/>
            <a:ext cx="10509199" cy="749808"/>
          </a:xfrm>
          <a:prstGeom prst="rect">
            <a:avLst/>
          </a:prstGeom>
          <a:solidFill>
            <a:srgbClr val="F2A5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654296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2A52"/>
                </a:solidFill>
                <a:latin typeface="Poppi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4654296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50">
                <a:solidFill>
                  <a:srgbClr val="1F2A52"/>
                </a:solidFill>
                <a:latin typeface="Poppins"/>
              </a:rPr>
              <a:t>REFINE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654296"/>
            <a:ext cx="6668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52"/>
                </a:solidFill>
                <a:latin typeface="Inter"/>
              </a:rPr>
              <a:t>Stress-test edge cases; add validation; fit it to your team.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5486400"/>
            <a:ext cx="10509199" cy="749808"/>
          </a:xfrm>
          <a:prstGeom prst="rect">
            <a:avLst/>
          </a:prstGeom>
          <a:solidFill>
            <a:srgbClr val="B79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48640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4248" y="5486400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50">
                <a:solidFill>
                  <a:srgbClr val="FFFFFF"/>
                </a:solidFill>
                <a:latin typeface="Poppins"/>
              </a:rPr>
              <a:t>DELIVER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486400"/>
            <a:ext cx="6668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Inter"/>
              </a:rPr>
              <a:t>Demo Day, August 1 — share what you built and what's next.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6F6A60"/>
                </a:solidFill>
                <a:latin typeface="Inter"/>
              </a:rPr>
              <a:t>IMPACTAI FOUNDRY</a:t>
            </a:r>
            <a:r>
              <a:rPr sz="850" b="0" i="0" spc="160">
                <a:solidFill>
                  <a:srgbClr val="6F6A60"/>
                </a:solidFill>
                <a:latin typeface="Inter"/>
              </a:rPr>
              <a:t>   ·   BANGALORE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604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6F6A60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