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slide showed a live website-recreation screenshot of the source org's own site (off-brand for IAF). On reshoot, drop in a screenshot of an IAF or brand-neutral site being rebuilt.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Merged slides 22 (generic definitions) and 23 (toast example applied); 23 is the fullest applied version. Generic defs: Trigger = the signal to start the step; Actor = the person or thing that completes the step; Inputs = info or data needed to complete the step (optional); Action = the actions the actor does to complete the step; Success = the result of the step and how you know it's successful.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Merged slides 24 and 25 (identical; 25 is a struck-through animation build). Used src 25 = last slide of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Merged slides 30 &amp; 31 (near-identical node-anatomy table; 31 only relabels the 'Process with AI' column with prompt-section names Role/Goal/Context, Steps, Output). Combined the fullest content from both into one record at the last slide number (31).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TODO: set the real cohort channel + team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TODO: add IAF's own weekly-survey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TODO: set the real cohort channel + team contact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12848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300">
                <a:solidFill>
                  <a:srgbClr val="B85042"/>
                </a:solidFill>
                <a:latin typeface="Georgia"/>
              </a:rPr>
              <a:t>IMPACTAI FOUNDRY · SESSION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96896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1F3A5F"/>
                </a:solidFill>
                <a:latin typeface="Georgia"/>
              </a:rPr>
              <a:t>AI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87952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33312B"/>
                </a:solidFill>
                <a:latin typeface="Georgia"/>
              </a:rPr>
              <a:t>Session 2: AI Workflows</a:t>
            </a:r>
          </a:p>
        </p:txBody>
      </p:sp>
      <p:pic>
        <p:nvPicPr>
          <p:cNvPr id="7" name="Picture 6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8" name="Picture 7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WELCOME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Share your problem statement(s) with your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578608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962656"/>
            <a:ext cx="935705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My pain point at work is that I spend time (doing a specific task).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If I could reduce or change this by (specific improvement),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I would gain (time, quality, or clarity impact).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</a:t>
            </a:r>
          </a:p>
        </p:txBody>
      </p:sp>
      <p:pic>
        <p:nvPicPr>
          <p:cNvPr id="9" name="Picture 8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0" name="Picture 9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Today's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395727"/>
            <a:ext cx="137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8842F"/>
                </a:solidFill>
                <a:latin typeface="Georgia"/>
              </a:rPr>
              <a:t>9:00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414015"/>
            <a:ext cx="778428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Discovery Day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979115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043123"/>
            <a:ext cx="137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8842F"/>
                </a:solidFill>
                <a:latin typeface="Georgia"/>
              </a:rPr>
              <a:t>9:30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3061411"/>
            <a:ext cx="778428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Making Toast: Workflows and Nodes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3626510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90518"/>
            <a:ext cx="137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8842F"/>
                </a:solidFill>
                <a:latin typeface="Georgia"/>
              </a:rPr>
              <a:t>10:35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3708806"/>
            <a:ext cx="778428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Define Your Workflow and Problem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4273905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337913"/>
            <a:ext cx="137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8842F"/>
                </a:solidFill>
                <a:latin typeface="Georgia"/>
              </a:rPr>
              <a:t>11:35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4356201"/>
            <a:ext cx="778428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Check In and Share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921300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985308"/>
            <a:ext cx="137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8842F"/>
                </a:solidFill>
                <a:latin typeface="Georgia"/>
              </a:rPr>
              <a:t>12:30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5003596"/>
            <a:ext cx="778428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Close and 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696712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1">
                <a:solidFill>
                  <a:srgbClr val="B85042"/>
                </a:solidFill>
                <a:latin typeface="Georgia"/>
              </a:rPr>
              <a:t>Breaks at 10:20 and lunch at 12:00.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2</a:t>
            </a:r>
          </a:p>
        </p:txBody>
      </p:sp>
      <p:pic>
        <p:nvPicPr>
          <p:cNvPr id="23" name="Picture 22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4" name="Picture 23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F3A5F"/>
                </a:solidFill>
                <a:latin typeface="Georgia"/>
              </a:rPr>
              <a:t>Five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50542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2416302"/>
            <a:ext cx="9357055" cy="59573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73352" y="2416302"/>
            <a:ext cx="77724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416302"/>
            <a:ext cx="233172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416302"/>
            <a:ext cx="5699455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3103473"/>
            <a:ext cx="9357055" cy="595731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73352" y="3103473"/>
            <a:ext cx="77724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103473"/>
            <a:ext cx="233172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Define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103473"/>
            <a:ext cx="5699455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3790645"/>
            <a:ext cx="9357055" cy="595731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73352" y="3790645"/>
            <a:ext cx="77724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90645"/>
            <a:ext cx="233172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790645"/>
            <a:ext cx="5699455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4477816"/>
            <a:ext cx="9357055" cy="595731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73352" y="4477816"/>
            <a:ext cx="77724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477816"/>
            <a:ext cx="233172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Refine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77816"/>
            <a:ext cx="5699455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5164988"/>
            <a:ext cx="9357055" cy="595731"/>
          </a:xfrm>
          <a:prstGeom prst="rect">
            <a:avLst/>
          </a:prstGeom>
          <a:solidFill>
            <a:srgbClr val="4A6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73352" y="5164988"/>
            <a:ext cx="77724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164988"/>
            <a:ext cx="2331720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Deliver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164988"/>
            <a:ext cx="5699455" cy="5957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3</a:t>
            </a:r>
          </a:p>
        </p:txBody>
      </p:sp>
      <p:pic>
        <p:nvPicPr>
          <p:cNvPr id="28" name="Picture 27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9" name="Picture 28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48295" y="2697480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EFE7D2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LEARNING PATH · 02 DEFINE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Define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32704" y="2523743"/>
            <a:ext cx="10972" cy="2468880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478023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A8842F"/>
                </a:solidFill>
                <a:latin typeface="Georgia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80359"/>
            <a:ext cx="39319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3312B"/>
                </a:solidFill>
                <a:latin typeface="Georgia"/>
              </a:rPr>
              <a:t>Problem Scoping and Workflow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78023"/>
            <a:ext cx="4830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A8842F"/>
                </a:solidFill>
                <a:latin typeface="Georgia"/>
              </a:rPr>
              <a:t>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880359"/>
            <a:ext cx="483077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Narrow to one clear workflow (MVP)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Break work into steps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Define inputs, constraints, and stakeholders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Explicitly describe what success looks like and how it will be evaluated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4</a:t>
            </a:r>
          </a:p>
        </p:txBody>
      </p:sp>
      <p:pic>
        <p:nvPicPr>
          <p:cNvPr id="14" name="Picture 13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5" name="Picture 14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E7CE"/>
                </a:solidFill>
                <a:latin typeface="Georgia"/>
              </a:rPr>
              <a:t>Reviewing Discovery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86783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Structure a strong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395727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414015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Give a Role and Goal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You are a [add an expert, such as a "social media expert"] and your objective is to [add goal, such as “create LinkedIn posts about events”]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3355848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419856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438144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List the Steps and Context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“To complete these instructions, follow these steps”: Step 1, Step 2, Step 3 (etc)”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4379976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443984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462272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Describe the Final Product (Output)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“When you are done, write your final response”: A summary paragraph of the work done; 3 bullet points, one per next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5</a:t>
            </a:r>
          </a:p>
        </p:txBody>
      </p:sp>
      <p:pic>
        <p:nvPicPr>
          <p:cNvPr id="16" name="Picture 15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7" name="Picture 16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503" y="457200"/>
            <a:ext cx="6436688" cy="5349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877503" y="457200"/>
            <a:ext cx="6436688" cy="5349240"/>
          </a:xfrm>
          <a:prstGeom prst="rect">
            <a:avLst/>
          </a:prstGeom>
          <a:noFill/>
          <a:ln w="15875">
            <a:solidFill>
              <a:srgbClr val="1F3A5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BUILDING 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54496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33312B"/>
                </a:solidFill>
                <a:latin typeface="Georgia"/>
              </a:rPr>
              <a:t>Use the + menu to add files, projects, and connectors — then turn on Research to investigate a question.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BUILDING A PROJECT · 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Build a Claude Project to answer user questions about material.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51460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2880360"/>
            <a:ext cx="9357055" cy="2086610"/>
          </a:xfrm>
          <a:prstGeom prst="rect">
            <a:avLst/>
          </a:prstGeom>
          <a:solidFill>
            <a:srgbClr val="ECE2C8"/>
          </a:solidFill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2880360"/>
            <a:ext cx="82296" cy="208661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1368" y="3118104"/>
            <a:ext cx="8625535" cy="172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Start a new project and add some content you want people to know (e.g. your website's FAQ)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Write a set of instructions telling the Project to respond to user questions only using the materials you gave it.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Try it out!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6</a:t>
            </a:r>
          </a:p>
        </p:txBody>
      </p:sp>
      <p:pic>
        <p:nvPicPr>
          <p:cNvPr id="11" name="Picture 1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2" name="Picture 11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PROJECT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Coach / Librarian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775" y="2418588"/>
            <a:ext cx="3108960" cy="3108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16775" y="2418588"/>
            <a:ext cx="3108960" cy="3108960"/>
          </a:xfrm>
          <a:prstGeom prst="rect">
            <a:avLst/>
          </a:prstGeom>
          <a:noFill/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418588"/>
            <a:ext cx="460217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00" b="0" i="0">
                <a:solidFill>
                  <a:srgbClr val="33312B"/>
                </a:solidFill>
                <a:latin typeface="Georgia"/>
              </a:rPr>
              <a:t>“I want an AI that answers my and my team's questions about our company materials.”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00" b="0" i="0">
                <a:solidFill>
                  <a:srgbClr val="33312B"/>
                </a:solidFill>
                <a:latin typeface="Georgia"/>
              </a:rPr>
              <a:t>Prompt: Describe how it should interact with your team and your materials.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00" b="0" i="0">
                <a:solidFill>
                  <a:srgbClr val="33312B"/>
                </a:solidFill>
                <a:latin typeface="Georgia"/>
              </a:rPr>
              <a:t>Files: Share the materials you want it to pull from.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7</a:t>
            </a:r>
          </a:p>
        </p:txBody>
      </p:sp>
      <p:pic>
        <p:nvPicPr>
          <p:cNvPr id="11" name="Picture 10" descr="corner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2" name="Picture 11" descr="corner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CODE(ISH)!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Code(ish)!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938" y="2418588"/>
            <a:ext cx="3849002" cy="3108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95938" y="2418588"/>
            <a:ext cx="3849002" cy="3108960"/>
          </a:xfrm>
          <a:prstGeom prst="rect">
            <a:avLst/>
          </a:prstGeom>
          <a:noFill/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199" y="2418588"/>
            <a:ext cx="460217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00" b="0" i="0">
                <a:solidFill>
                  <a:srgbClr val="33312B"/>
                </a:solidFill>
                <a:latin typeface="Georgia"/>
              </a:rPr>
              <a:t>Vanilla Claude Chat can write simple code for you!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00" b="0" i="0">
                <a:solidFill>
                  <a:srgbClr val="33312B"/>
                </a:solidFill>
                <a:latin typeface="Georgia"/>
              </a:rPr>
              <a:t>Don't think about it as “coding” - you are merely asking for a computer to do something annoying for you.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00" b="0" i="0">
                <a:solidFill>
                  <a:srgbClr val="33312B"/>
                </a:solidFill>
                <a:latin typeface="Georgia"/>
              </a:rPr>
              <a:t>The mad lib to start with: “Make me __________ that can run in my browser” / “Make me an HTML file that…”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00" b="0" i="0">
                <a:solidFill>
                  <a:srgbClr val="33312B"/>
                </a:solidFill>
                <a:latin typeface="Georgia"/>
              </a:rPr>
              <a:t>It's very helpful to be very specific about the STEPS section of your prompt if your task is specific or complex.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8</a:t>
            </a:r>
          </a:p>
        </p:txBody>
      </p:sp>
      <p:pic>
        <p:nvPicPr>
          <p:cNvPr id="11" name="Picture 10" descr="corner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2" name="Picture 11" descr="corner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CODE · BUILDING A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Have Claude make you a new website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2400300"/>
            <a:ext cx="4526280" cy="2086610"/>
          </a:xfrm>
          <a:prstGeom prst="rect">
            <a:avLst/>
          </a:prstGeom>
          <a:solidFill>
            <a:srgbClr val="ECE2C8"/>
          </a:solidFill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2400300"/>
            <a:ext cx="82296" cy="208661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1368" y="2638044"/>
            <a:ext cx="3794760" cy="172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Open a new chat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Ask Claude to “recreate the website at &lt;URL&gt;”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Optional: Give it any requests for style, features you want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2583180"/>
            <a:ext cx="3383280" cy="2103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14032" y="2702052"/>
            <a:ext cx="3145536" cy="1865376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11112" y="4686300"/>
            <a:ext cx="4151376" cy="1371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3040380"/>
            <a:ext cx="1645920" cy="82296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3332988"/>
            <a:ext cx="2103120" cy="82296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3625596"/>
            <a:ext cx="1143000" cy="82296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3918204"/>
            <a:ext cx="82296" cy="201168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9</a:t>
            </a:r>
          </a:p>
        </p:txBody>
      </p:sp>
      <p:pic>
        <p:nvPicPr>
          <p:cNvPr id="18" name="Picture 17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9" name="Picture 18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CODE · BUILDING A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E7CE"/>
                </a:solidFill>
                <a:latin typeface="Georgia"/>
              </a:rPr>
              <a:t>Recreate a site from its URL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86783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33671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C9BA97"/>
                </a:solidFill>
                <a:latin typeface="Georgia"/>
              </a:rPr>
              <a:t>Ask Claude to recreate a site at a URL — it reads the front-end design for best practices, fetches details, and rebuilds the page.</a:t>
            </a:r>
          </a:p>
        </p:txBody>
      </p:sp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8" name="Picture 7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AI DESIGN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AI Design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395727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414015"/>
            <a:ext cx="837864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Define the Problem (the friction)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979115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043123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061411"/>
            <a:ext cx="837864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Describe the Current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3626510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9051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708806"/>
            <a:ext cx="837864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Clarify the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4273905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337913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4356201"/>
            <a:ext cx="837864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Define Success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921300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98530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5003596"/>
            <a:ext cx="8378647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Prototype, Test, and Iterate!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10</a:t>
            </a:r>
          </a:p>
        </p:txBody>
      </p:sp>
      <p:pic>
        <p:nvPicPr>
          <p:cNvPr id="22" name="Picture 21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3" name="Picture 22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IMPACTAI FOUNDRY · SESSION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E7CE"/>
                </a:solidFill>
                <a:latin typeface="Georgia"/>
              </a:rPr>
              <a:t>Making Toast: Workflows and Nodes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86783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LET'S MAKE TOAST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Grab a piece of paper and draw the steps of how you make toast.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51460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2880360"/>
            <a:ext cx="4526280" cy="1751584"/>
          </a:xfrm>
          <a:prstGeom prst="rect">
            <a:avLst/>
          </a:prstGeom>
          <a:solidFill>
            <a:srgbClr val="ECE2C8"/>
          </a:solidFill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2880360"/>
            <a:ext cx="82296" cy="1751584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1368" y="3118104"/>
            <a:ext cx="3794760" cy="1385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When you're finished, share your steps with your team.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Notice what you had the same/different.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3063240"/>
            <a:ext cx="3383280" cy="2103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14032" y="3182112"/>
            <a:ext cx="3145536" cy="1865376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11112" y="5166360"/>
            <a:ext cx="4151376" cy="1371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3520440"/>
            <a:ext cx="1645920" cy="82296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3813048"/>
            <a:ext cx="2103120" cy="82296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4105656"/>
            <a:ext cx="1143000" cy="82296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4398264"/>
            <a:ext cx="82296" cy="201168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11</a:t>
            </a:r>
          </a:p>
        </p:txBody>
      </p:sp>
      <p:pic>
        <p:nvPicPr>
          <p:cNvPr id="18" name="Picture 17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9" name="Picture 18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457200"/>
            <a:ext cx="9509760" cy="5349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40967" y="457200"/>
            <a:ext cx="9509760" cy="5349240"/>
          </a:xfrm>
          <a:prstGeom prst="rect">
            <a:avLst/>
          </a:prstGeom>
          <a:noFill/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254496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F1E7CE"/>
                </a:solidFill>
                <a:latin typeface="Georgia"/>
              </a:rPr>
              <a:t>Drawing how you make toast — the classic systems-thinking warm-up.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056" y="457200"/>
            <a:ext cx="6771581" cy="5349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10056" y="457200"/>
            <a:ext cx="6771581" cy="5349240"/>
          </a:xfrm>
          <a:prstGeom prst="rect">
            <a:avLst/>
          </a:prstGeom>
          <a:noFill/>
          <a:ln w="15875">
            <a:solidFill>
              <a:srgbClr val="1F3A5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THIS IS A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54496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33312B"/>
                </a:solidFill>
                <a:latin typeface="Georgia"/>
              </a:rPr>
              <a:t>A workflow is a chain of nodes. Each box is a node; the arrows are the flow between them.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618" y="457200"/>
            <a:ext cx="6298458" cy="5349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946618" y="457200"/>
            <a:ext cx="6298458" cy="5349240"/>
          </a:xfrm>
          <a:prstGeom prst="rect">
            <a:avLst/>
          </a:prstGeom>
          <a:noFill/>
          <a:ln w="15875">
            <a:solidFill>
              <a:srgbClr val="1F3A5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254496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33312B"/>
                </a:solidFill>
                <a:latin typeface="Georgia"/>
              </a:rPr>
              <a:t>The gap is usually not the tool — it is the missing handoff between "this looks useful" and "this runs inside the business every week."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E7CE"/>
                </a:solidFill>
                <a:latin typeface="Georgia"/>
              </a:rPr>
              <a:t>Break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86783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ZOOM IN ON ONE STEP (NODE)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For any single step in a workflow, you can break it down into: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51460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3474720"/>
            <a:ext cx="1564172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Trigger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The signal to start the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1492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5540" y="3474720"/>
            <a:ext cx="1564172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5268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Actor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The person or thing that completes the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9713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3761" y="3474720"/>
            <a:ext cx="1564172" cy="1554480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3489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Inputs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Info or data needed to complete the step (this is optional!)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7933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1981" y="3474720"/>
            <a:ext cx="1564172" cy="155448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1709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Georgia"/>
              </a:rPr>
              <a:t>Action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1F3A5F"/>
                </a:solidFill>
                <a:latin typeface="Georgia"/>
              </a:rPr>
              <a:t>The actions the actor does to complete the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6154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0202" y="3474720"/>
            <a:ext cx="1564172" cy="1554480"/>
          </a:xfrm>
          <a:prstGeom prst="rect">
            <a:avLst/>
          </a:prstGeom>
          <a:solidFill>
            <a:srgbClr val="4A6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9930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Success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The result of the step and how you know it's successful</a:t>
            </a:r>
          </a:p>
        </p:txBody>
      </p:sp>
      <p:pic>
        <p:nvPicPr>
          <p:cNvPr id="20" name="Picture 19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1" name="Picture 2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TRY IT: ZOOM IN ON ONE STEP (NODE)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Apply the Steps to this Node: Getting Toast Out of the Toaster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51460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3474720"/>
            <a:ext cx="1564172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Trigger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You hear the toaster 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1492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5540" y="3474720"/>
            <a:ext cx="1564172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5268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Actor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The person grabbing toast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9713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3761" y="3474720"/>
            <a:ext cx="1564172" cy="1554480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3489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Inputs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None needed, just hunger! (Maybe some jam)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7933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1981" y="3474720"/>
            <a:ext cx="1564172" cy="155448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1709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Georgia"/>
              </a:rPr>
              <a:t>Action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1F3A5F"/>
                </a:solidFill>
                <a:latin typeface="Georgia"/>
              </a:rPr>
              <a:t>You reach out your hand and pick up the toast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6154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0202" y="3474720"/>
            <a:ext cx="1564172" cy="1554480"/>
          </a:xfrm>
          <a:prstGeom prst="rect">
            <a:avLst/>
          </a:prstGeom>
          <a:solidFill>
            <a:srgbClr val="4A6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9930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Success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The toast is out of the toaster!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230368"/>
            <a:ext cx="93570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3312B"/>
                </a:solidFill>
                <a:latin typeface="Georgia"/>
              </a:rPr>
              <a:t>The five components of a node: Trigger, Actor, Inputs (optional), Action, Success.</a:t>
            </a:r>
          </a:p>
        </p:txBody>
      </p:sp>
      <p:pic>
        <p:nvPicPr>
          <p:cNvPr id="21" name="Picture 2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2" name="Picture 21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AI PROCESS MAPPING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1E7CE"/>
                </a:solidFill>
                <a:latin typeface="Georgia"/>
              </a:rPr>
              <a:t>“I want AI to match our graduates to the best jobs.”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4065015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311904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C9BA97"/>
                </a:solidFill>
                <a:latin typeface="Georgia"/>
              </a:rPr>
              <a:t>A real ask we'll map into a workflow.</a:t>
            </a:r>
          </a:p>
        </p:txBody>
      </p:sp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8" name="Picture 7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A SIMPLE WORKFLOW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Problem: How to Match Our Graduates to the Best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51460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3474720"/>
            <a:ext cx="2862986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3584448"/>
            <a:ext cx="2643530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E7CE"/>
                </a:solidFill>
                <a:latin typeface="Georgia"/>
              </a:rPr>
              <a:t>Node 1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“I search five job sites for new jobs since my last search”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0306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4354" y="3474720"/>
            <a:ext cx="2862986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4082" y="3584448"/>
            <a:ext cx="2643530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E7CE"/>
                </a:solidFill>
                <a:latin typeface="Georgia"/>
              </a:rPr>
              <a:t>Node 2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“I save the jobs that match my students’ interests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7340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11388" y="3474720"/>
            <a:ext cx="2862986" cy="1554480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1116" y="3584448"/>
            <a:ext cx="2643530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E7CE"/>
                </a:solidFill>
                <a:latin typeface="Georgia"/>
              </a:rPr>
              <a:t>Node 3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“I present the matches to each student. If they are interested we apply.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230368"/>
            <a:ext cx="93570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3312B"/>
                </a:solidFill>
                <a:latin typeface="Georgia"/>
              </a:rPr>
              <a:t>A workflow is a chain of nodes, each handing off to the next.</a:t>
            </a:r>
          </a:p>
        </p:txBody>
      </p:sp>
      <p:pic>
        <p:nvPicPr>
          <p:cNvPr id="15" name="Picture 14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6" name="Picture 15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TRY IT: ZOOM IN ON ONE STEP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Map out the aspects of Node 1 in the job search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51460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2880360"/>
            <a:ext cx="4526280" cy="2375916"/>
          </a:xfrm>
          <a:prstGeom prst="rect">
            <a:avLst/>
          </a:prstGeom>
          <a:solidFill>
            <a:srgbClr val="ECE2C8"/>
          </a:solidFill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2880360"/>
            <a:ext cx="82296" cy="237591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1368" y="3118104"/>
            <a:ext cx="3794760" cy="20101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“I search five job sites for new jobs since my last search”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Apply the five components: trigger, actor, inputs, action, success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Share with your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5439156"/>
            <a:ext cx="5806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→  </a:t>
            </a:r>
            <a:r>
              <a:rPr sz="1550" b="0" i="1">
                <a:solidFill>
                  <a:srgbClr val="33312B"/>
                </a:solidFill>
                <a:latin typeface="Georgia"/>
              </a:rPr>
              <a:t>What are the trigger, actor, inputs, action, and success for Node 1?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3063240"/>
            <a:ext cx="3383280" cy="2103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14032" y="3182112"/>
            <a:ext cx="3145536" cy="1865376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11112" y="5166360"/>
            <a:ext cx="4151376" cy="1371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3520440"/>
            <a:ext cx="1645920" cy="82296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3813048"/>
            <a:ext cx="2103120" cy="82296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4105656"/>
            <a:ext cx="1143000" cy="82296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4398264"/>
            <a:ext cx="82296" cy="201168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12</a:t>
            </a:r>
          </a:p>
        </p:txBody>
      </p:sp>
      <p:pic>
        <p:nvPicPr>
          <p:cNvPr id="19" name="Picture 18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0" name="Picture 19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SESSION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E7CE"/>
                </a:solidFill>
                <a:latin typeface="Georgia"/>
              </a:rPr>
              <a:t>Connecting to AI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86783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HUMAN →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The node model maps to how you design your AI to run that step!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51460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3474720"/>
            <a:ext cx="1564172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Trigger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What starts your AI process (e.g. opening ChatGPT, a notification)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1492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5540" y="3474720"/>
            <a:ext cx="1564172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5268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Actor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The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9713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3761" y="3474720"/>
            <a:ext cx="1564172" cy="1554480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3489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Inputs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What data/ context does it need? Role and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7933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1981" y="3474720"/>
            <a:ext cx="1564172" cy="155448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1709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Georgia"/>
              </a:rPr>
              <a:t>Action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1F3A5F"/>
                </a:solidFill>
                <a:latin typeface="Georgia"/>
              </a:rPr>
              <a:t>The steps you laid out in your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6154" y="347472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0202" y="3474720"/>
            <a:ext cx="1564172" cy="1554480"/>
          </a:xfrm>
          <a:prstGeom prst="rect">
            <a:avLst/>
          </a:prstGeom>
          <a:solidFill>
            <a:srgbClr val="4A6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9930" y="3584448"/>
            <a:ext cx="1344716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E7CE"/>
                </a:solidFill>
                <a:latin typeface="Georgia"/>
              </a:rPr>
              <a:t>Success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The output and how we know it did a good enough job</a:t>
            </a:r>
          </a:p>
        </p:txBody>
      </p:sp>
      <p:pic>
        <p:nvPicPr>
          <p:cNvPr id="20" name="Picture 19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1" name="Picture 2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48295" y="2697480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EFE7D2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NODE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The node model maps perfectly to how you design your AI to run that step!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2578608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32704" y="3035807"/>
            <a:ext cx="10972" cy="2468880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990087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A8842F"/>
                </a:solidFill>
                <a:latin typeface="Georgia"/>
              </a:rPr>
              <a:t>PROCESS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392423"/>
            <a:ext cx="39319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TRIGGER — You need more jobs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ACTOR — Human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INPUT — List of Sites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STEPS — Go to website; Input key words; Add job links to a list with a description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SUCCESS — List of 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990087"/>
            <a:ext cx="4830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A8842F"/>
                </a:solidFill>
                <a:latin typeface="Georgia"/>
              </a:rPr>
              <a:t>PROCESS WITH AI (YOUR PROMPT SECTIONS)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392423"/>
            <a:ext cx="483077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TRIGGER — A calendar notification goes off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ACTOR — Claude Project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INPUT — Role, Goal, and Context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STEPS — Search the sites; Get new jobs (with context on what a good, new job is)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SUCCESS — Output: 5-10 jobs based on all the sites, the URLs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13</a:t>
            </a:r>
          </a:p>
        </p:txBody>
      </p:sp>
      <p:pic>
        <p:nvPicPr>
          <p:cNvPr id="14" name="Picture 13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5" name="Picture 14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MAP YOUR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Map your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2400300"/>
            <a:ext cx="9357055" cy="1797304"/>
          </a:xfrm>
          <a:prstGeom prst="rect">
            <a:avLst/>
          </a:prstGeom>
          <a:solidFill>
            <a:srgbClr val="ECE2C8"/>
          </a:solidFill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2400300"/>
            <a:ext cx="82296" cy="1797304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1368" y="2638044"/>
            <a:ext cx="8625535" cy="1431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Choose one specific workflow you want to improve based on your Mad Lib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Map the workflow as it happens today (draw it out!):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Identify one step that feels repetitive, slow, or unclear. Break down trigger, actor, inputs, action,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4380484"/>
            <a:ext cx="93570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→  </a:t>
            </a:r>
            <a:r>
              <a:rPr sz="1550" b="0" i="1">
                <a:solidFill>
                  <a:srgbClr val="33312B"/>
                </a:solidFill>
                <a:latin typeface="Georgia"/>
              </a:rPr>
              <a:t>(45 min) We’ll check back in here at 12:00. If you finish early, you can try creating the prompt that would run this part of the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14</a:t>
            </a:r>
          </a:p>
        </p:txBody>
      </p:sp>
      <p:pic>
        <p:nvPicPr>
          <p:cNvPr id="12" name="Picture 11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3" name="Picture 12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SHARE OUT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E7CE"/>
                </a:solidFill>
                <a:latin typeface="Georgia"/>
              </a:rPr>
              <a:t>Share the workflow you’re mapping.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86783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33671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C9BA97"/>
                </a:solidFill>
                <a:latin typeface="Georgia"/>
              </a:rPr>
              <a:t>What feels easy? Hard?</a:t>
            </a:r>
          </a:p>
        </p:txBody>
      </p:sp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8" name="Picture 7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AI DOSAGE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Fully human → Fully automated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3234690"/>
            <a:ext cx="2862986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3344418"/>
            <a:ext cx="2643530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E7CE"/>
                </a:solidFill>
                <a:latin typeface="Georgia"/>
              </a:rPr>
              <a:t>Fully Human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All nodes are performed manually by a human without any AI assistance.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0306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4354" y="3234690"/>
            <a:ext cx="2862986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4082" y="3344418"/>
            <a:ext cx="2643530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E7CE"/>
                </a:solidFill>
                <a:latin typeface="Georgia"/>
              </a:rPr>
              <a:t>AI-Assisted Human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Human performs some nodes with support from AI tools that handle some of the more repetitive or time consuming nodes.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7340" y="3234690"/>
            <a:ext cx="38404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842F"/>
                </a:solidFill>
                <a:latin typeface="Georg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11388" y="3234690"/>
            <a:ext cx="2862986" cy="1554480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1116" y="3344418"/>
            <a:ext cx="2643530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E7CE"/>
                </a:solidFill>
                <a:latin typeface="Georgia"/>
              </a:rPr>
              <a:t>Fully Automated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1E7CE"/>
                </a:solidFill>
                <a:latin typeface="Georgia"/>
              </a:rPr>
              <a:t>AI performs all or most of the nodes with minimal or no human intervention, handling tasks from start to finish.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990338"/>
            <a:ext cx="93570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3312B"/>
                </a:solidFill>
                <a:latin typeface="Georgia"/>
              </a:rPr>
              <a:t>The spectrum of AI involvement across your workflow nodes.</a:t>
            </a:r>
          </a:p>
        </p:txBody>
      </p:sp>
      <p:pic>
        <p:nvPicPr>
          <p:cNvPr id="15" name="Picture 14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6" name="Picture 15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IF YOU FEEL STUCK BECAUSE…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If you feel stuck because…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395727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414015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You don’t have a clear process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Make some decisions about how it could work just for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3355848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419856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438144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The system seems too complex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Pick a smaller subsection of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4379976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443984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462272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“Steps” are insufficient to capture all the info to do the activity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Add a little “context” list of info you’d want to give someone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15</a:t>
            </a:r>
          </a:p>
        </p:txBody>
      </p:sp>
      <p:pic>
        <p:nvPicPr>
          <p:cNvPr id="16" name="Picture 15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7" name="Picture 16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MAP YOUR WORKFLOW (40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Finalize your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3454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2400300"/>
            <a:ext cx="4526280" cy="1797304"/>
          </a:xfrm>
          <a:prstGeom prst="rect">
            <a:avLst/>
          </a:prstGeom>
          <a:solidFill>
            <a:srgbClr val="ECE2C8"/>
          </a:solidFill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2400300"/>
            <a:ext cx="82296" cy="1797304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1368" y="2638044"/>
            <a:ext cx="3794760" cy="1431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01  Finalize your workflow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02  If you're ready, write this into a prompt and try it!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We'll wrap up at 12:45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4380484"/>
            <a:ext cx="5806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→  </a:t>
            </a:r>
            <a:r>
              <a:rPr sz="1550" b="0" i="1">
                <a:solidFill>
                  <a:srgbClr val="33312B"/>
                </a:solidFill>
                <a:latin typeface="Georgia"/>
              </a:rPr>
              <a:t>Try Toast Bot if you're stuck (or curious!) — https://bit.ly/toastbot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583180"/>
            <a:ext cx="3383280" cy="2103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14032" y="2702052"/>
            <a:ext cx="3145536" cy="1865376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11112" y="4686300"/>
            <a:ext cx="4151376" cy="1371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3040380"/>
            <a:ext cx="1645920" cy="82296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3332988"/>
            <a:ext cx="2103120" cy="82296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3625596"/>
            <a:ext cx="1143000" cy="82296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3918204"/>
            <a:ext cx="82296" cy="201168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16</a:t>
            </a:r>
          </a:p>
        </p:txBody>
      </p:sp>
      <p:pic>
        <p:nvPicPr>
          <p:cNvPr id="19" name="Picture 18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20" name="Picture 19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SHARING IS CARING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Share what you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450591"/>
            <a:ext cx="93570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312B"/>
                </a:solidFill>
                <a:latin typeface="Georgia"/>
              </a:rPr>
              <a:t>Post in the cohort channel, or email the ImpactAI Foundry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962656"/>
            <a:ext cx="935705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In a few sentences, describe the workflow you worked on today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Snap a pic if you drew it!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(Optional) Make a note of 1-2 other problems you're considering working on, whether directly AI implementation or not, if you've got 'em.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17</a:t>
            </a:r>
          </a:p>
        </p:txBody>
      </p:sp>
      <p:pic>
        <p:nvPicPr>
          <p:cNvPr id="10" name="Picture 9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1" name="Picture 1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SHOW AND TELL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Reflections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450591"/>
            <a:ext cx="93570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312B"/>
                </a:solidFill>
                <a:latin typeface="Georgia"/>
              </a:rPr>
              <a:t>3 Minute Share Out: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962656"/>
            <a:ext cx="935705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Introduce yourself and your org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What workflow you worked on today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What went well? What was a challenge?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Any other reflections?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18</a:t>
            </a:r>
          </a:p>
        </p:txBody>
      </p:sp>
      <p:pic>
        <p:nvPicPr>
          <p:cNvPr id="10" name="Picture 9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1" name="Picture 10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WEEKLY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1E7CE"/>
                </a:solidFill>
                <a:latin typeface="Georgia"/>
              </a:rPr>
              <a:t>Take 5 minutes and reflect on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86783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33671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C9BA97"/>
                </a:solidFill>
                <a:latin typeface="Georgia"/>
              </a:rPr>
              <a:t>Find this week's survey link in your cohort channel.</a:t>
            </a:r>
          </a:p>
        </p:txBody>
      </p:sp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8" name="Picture 7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26464"/>
            <a:ext cx="93570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Georgia"/>
              </a:rP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395727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414015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Session 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See you here in two weeks — [insert date and time]!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3355848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419856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438144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For Next Time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Prepare your inputs (data, decisions, documents).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4379976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443984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8842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462272"/>
            <a:ext cx="837864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Questions?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Chat on the cohort channel or reach out to the ImpactAI Foundry team.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19</a:t>
            </a:r>
          </a:p>
        </p:txBody>
      </p:sp>
      <p:pic>
        <p:nvPicPr>
          <p:cNvPr id="16" name="Picture 15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17" name="Picture 16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FOLLOW ALONG!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79776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1E7CE"/>
                </a:solidFill>
                <a:latin typeface="Georgia"/>
              </a:rPr>
              <a:t>Follow along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86783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33671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C9BA97"/>
                </a:solidFill>
                <a:latin typeface="Georgia"/>
              </a:rPr>
              <a:t>Substack  ·  Case Studies  ·  LinkedIn</a:t>
            </a:r>
          </a:p>
        </p:txBody>
      </p:sp>
      <p:pic>
        <p:nvPicPr>
          <p:cNvPr id="7" name="Picture 6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8" name="Picture 7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