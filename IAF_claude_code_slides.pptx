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0" r:id="rId2"/>
    <p:sldId id="261" r:id="rId3"/>
    <p:sldId id="263" r:id="rId4"/>
    <p:sldId id="264" r:id="rId5"/>
    <p:sldId id="262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2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51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43000" y="2148840"/>
            <a:ext cx="9902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AUTOMATE THE ADMIN · GOING FURTHER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37276" y="2651760"/>
            <a:ext cx="914400" cy="0"/>
          </a:xfrm>
          <a:prstGeom prst="line">
            <a:avLst/>
          </a:prstGeom>
          <a:noFill/>
          <a:ln w="1524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2926080"/>
            <a:ext cx="9902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4000">
                <a:solidFill>
                  <a:srgbClr val="1F3A5F"/>
                </a:solidFill>
                <a:latin typeface="Georgia"/>
              </a:rPr>
              <a:t>Claude Code — when chatting isn’t enough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057400" y="4069080"/>
            <a:ext cx="8074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600">
                <a:solidFill>
                  <a:srgbClr val="8A7A55"/>
                </a:solidFill>
                <a:latin typeface="Calibri"/>
              </a:rPr>
              <a:t>The same Claude you know, now working directly inside your files, folders and tools.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34640" y="731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622792" y="7315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83464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TWO WAYS TO WORK WITH CLAUDE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834640" y="1508760"/>
            <a:ext cx="6519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1F3A5F"/>
                </a:solidFill>
                <a:latin typeface="Georgia"/>
              </a:rPr>
              <a:t>Claude Chat vs. Claude Code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834640" y="228600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Claude Chat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1">
                <a:solidFill>
                  <a:srgbClr val="B85042"/>
                </a:solidFill>
                <a:latin typeface="Georgia"/>
              </a:rPr>
              <a:t>It talks  </a:t>
            </a:r>
            <a:r>
              <a:rPr sz="1300" b="0">
                <a:solidFill>
                  <a:srgbClr val="1F3A5F"/>
                </a:solidFill>
                <a:latin typeface="Calibri"/>
              </a:rPr>
              <a:t>you type, it replies in the chat window.</a:t>
            </a:r>
            <a:endParaRPr lang="en-US" sz="1300" dirty="0"/>
          </a:p>
          <a:p>
            <a:r>
              <a:rPr sz="1300" b="1">
                <a:solidFill>
                  <a:srgbClr val="B85042"/>
                </a:solidFill>
                <a:latin typeface="Georgia"/>
              </a:rPr>
              <a:t>You move the work  </a:t>
            </a:r>
            <a:r>
              <a:rPr sz="1300" b="0">
                <a:solidFill>
                  <a:srgbClr val="1F3A5F"/>
                </a:solidFill>
                <a:latin typeface="Calibri"/>
              </a:rPr>
              <a:t>copy text in, copy the answer back out by hand.</a:t>
            </a:r>
          </a:p>
          <a:p>
            <a:r>
              <a:rPr sz="1300" b="1">
                <a:solidFill>
                  <a:srgbClr val="B85042"/>
                </a:solidFill>
                <a:latin typeface="Georgia"/>
              </a:rPr>
              <a:t>Best for  </a:t>
            </a:r>
            <a:r>
              <a:rPr sz="1300" b="0">
                <a:solidFill>
                  <a:srgbClr val="1F3A5F"/>
                </a:solidFill>
                <a:latin typeface="Calibri"/>
              </a:rPr>
              <a:t>thinking, drafting, summarising, answering questions.</a:t>
            </a:r>
          </a:p>
          <a:p>
            <a:endParaRPr sz="1300" b="0">
              <a:solidFill>
                <a:srgbClr val="1F3A5F"/>
              </a:solidFill>
              <a:latin typeface="Calibri"/>
            </a:endParaRPr>
          </a:p>
          <a:p>
            <a:r>
              <a:rPr sz="1300" b="0">
                <a:solidFill>
                  <a:srgbClr val="8A7A55"/>
                </a:solidFill>
                <a:latin typeface="Calibri"/>
              </a:rPr>
              <a:t>Great for words — you still do the doing.</a:t>
            </a:r>
          </a:p>
        </p:txBody>
      </p:sp>
      <p:sp>
        <p:nvSpPr>
          <p:cNvPr id="9" name="Text 7"/>
          <p:cNvSpPr/>
          <p:nvPr/>
        </p:nvSpPr>
        <p:spPr>
          <a:xfrm>
            <a:off x="6323076" y="2606040"/>
            <a:ext cx="30312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500" b="1">
                <a:solidFill>
                  <a:srgbClr val="4A6B3A"/>
                </a:solidFill>
                <a:latin typeface="Georgia"/>
              </a:rPr>
              <a:t>Claude Code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3076" y="3108960"/>
            <a:ext cx="30312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300" b="1">
                <a:solidFill>
                  <a:srgbClr val="4A6B3A"/>
                </a:solidFill>
                <a:latin typeface="Georgia"/>
              </a:rPr>
              <a:t>It acts  </a:t>
            </a:r>
            <a:r>
              <a:rPr sz="1300" b="0">
                <a:solidFill>
                  <a:srgbClr val="1F3A5F"/>
                </a:solidFill>
                <a:latin typeface="Calibri"/>
              </a:rPr>
              <a:t>reads and edits your real files and runs the task itself.</a:t>
            </a:r>
            <a:endParaRPr lang="en-US" sz="1300" dirty="0"/>
          </a:p>
          <a:p>
            <a:r>
              <a:rPr sz="1300" b="1">
                <a:solidFill>
                  <a:srgbClr val="4A6B3A"/>
                </a:solidFill>
                <a:latin typeface="Georgia"/>
              </a:rPr>
              <a:t>It moves the work  </a:t>
            </a:r>
            <a:r>
              <a:rPr sz="1300" b="0">
                <a:solidFill>
                  <a:srgbClr val="1F3A5F"/>
                </a:solidFill>
                <a:latin typeface="Calibri"/>
              </a:rPr>
              <a:t>opens folders, edits many documents at once.</a:t>
            </a:r>
          </a:p>
          <a:p>
            <a:r>
              <a:rPr sz="1300" b="1">
                <a:solidFill>
                  <a:srgbClr val="4A6B3A"/>
                </a:solidFill>
                <a:latin typeface="Georgia"/>
              </a:rPr>
              <a:t>Best for  </a:t>
            </a:r>
            <a:r>
              <a:rPr sz="1300" b="0">
                <a:solidFill>
                  <a:srgbClr val="1F3A5F"/>
                </a:solidFill>
                <a:latin typeface="Calibri"/>
              </a:rPr>
              <a:t>repetitive, multi-file, “just change it” jobs.</a:t>
            </a:r>
          </a:p>
          <a:p>
            <a:endParaRPr sz="1300" b="0">
              <a:solidFill>
                <a:srgbClr val="1F3A5F"/>
              </a:solidFill>
              <a:latin typeface="Calibri"/>
            </a:endParaRPr>
          </a:p>
          <a:p>
            <a:r>
              <a:rPr sz="1300" b="0">
                <a:solidFill>
                  <a:srgbClr val="8A7A55"/>
                </a:solidFill>
                <a:latin typeface="Calibri"/>
              </a:rPr>
              <a:t>Great for doing — it works where your files live.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DF20E0-969D-31DB-1EEF-DCCFB1666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EBAB806-C17C-82C7-BD67-054F104DB5F8}"/>
              </a:ext>
            </a:extLst>
          </p:cNvPr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0C158A-53B1-366B-B714-4FE6A026B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151" y="977987"/>
            <a:ext cx="7617372" cy="505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9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3EC2F-BEB9-71EA-926C-A0F6F5D85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32E66CD-5D52-B9BF-6477-3BF8192C0EF3}"/>
              </a:ext>
            </a:extLst>
          </p:cNvPr>
          <p:cNvSpPr/>
          <p:nvPr/>
        </p:nvSpPr>
        <p:spPr>
          <a:xfrm>
            <a:off x="10314432" y="10515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A78748D-1776-ED5D-CA9D-743F51276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901648"/>
            <a:ext cx="7772400" cy="505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306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11712" y="0"/>
            <a:ext cx="786384" cy="6858000"/>
          </a:xfrm>
          <a:prstGeom prst="rect">
            <a:avLst/>
          </a:prstGeom>
          <a:solidFill>
            <a:srgbClr val="F4EC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40522" y="1143000"/>
            <a:ext cx="517739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AI FOUNDRY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725912" y="1143000"/>
            <a:ext cx="509647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40524" y="1600200"/>
            <a:ext cx="51773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000" b="1">
                <a:solidFill>
                  <a:srgbClr val="B85042"/>
                </a:solidFill>
                <a:latin typeface="Georgia"/>
              </a:rPr>
              <a:t>GETTING STARTED WITH CLAUDE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40524" y="1920240"/>
            <a:ext cx="100058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3000" b="1">
                <a:solidFill>
                  <a:srgbClr val="1F3A5F"/>
                </a:solidFill>
                <a:latin typeface="Georgia"/>
              </a:rPr>
              <a:t>How to use it — and where it fits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640080" cy="0"/>
          </a:xfrm>
          <a:prstGeom prst="line">
            <a:avLst/>
          </a:prstGeom>
          <a:noFill/>
          <a:ln w="19050">
            <a:solidFill>
              <a:srgbClr val="C8A0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22" y="3063240"/>
            <a:ext cx="1000584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1500" b="1">
                <a:solidFill>
                  <a:srgbClr val="B85042"/>
                </a:solidFill>
                <a:latin typeface="Georgia"/>
              </a:rPr>
              <a:t>Point it at a folder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open Claude Code where the files you want to work with already live.</a:t>
            </a:r>
            <a:endParaRPr lang="en-US" sz="1600" dirty="0"/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Ask in plain English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“rename these by date,” “pull the totals into one sheet,” “draft a report from these notes.”</a:t>
            </a:r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Watch and approve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it shows each change before it makes it — nothing happens without your okay.</a:t>
            </a:r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Use it where you work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on your desktop (Mac or Windows), in the editor, in the terminal, or on the web.</a:t>
            </a:r>
          </a:p>
          <a:p>
            <a:r>
              <a:rPr sz="1500" b="1">
                <a:solidFill>
                  <a:srgbClr val="B85042"/>
                </a:solidFill>
                <a:latin typeface="Georgia"/>
              </a:rPr>
              <a:t>Connect your tools  —  </a:t>
            </a:r>
            <a:r>
              <a:rPr sz="1400" b="0">
                <a:solidFill>
                  <a:srgbClr val="1F3A5F"/>
                </a:solidFill>
                <a:latin typeface="Calibri"/>
              </a:rPr>
              <a:t>link Google Drive, Gmail and more so it works with the data you already have.</a:t>
            </a:r>
          </a:p>
          <a:p>
            <a:r>
              <a:rPr sz="1400" b="0">
                <a:solidFill>
                  <a:srgbClr val="8A7A55"/>
                </a:solidFill>
                <a:latin typeface="Calibri"/>
              </a:rPr>
              <a:t>Start with one repetitive, file-heavy task — let it prove itself there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298</Words>
  <Application>Microsoft Macintosh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ab6136</cp:lastModifiedBy>
  <cp:revision>4</cp:revision>
  <dcterms:created xsi:type="dcterms:W3CDTF">2026-06-03T02:04:37Z</dcterms:created>
  <dcterms:modified xsi:type="dcterms:W3CDTF">2026-06-10T04:56:11Z</dcterms:modified>
</cp:coreProperties>
</file>